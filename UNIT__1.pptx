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537" r:id="rId2"/>
    <p:sldId id="538" r:id="rId3"/>
    <p:sldId id="286" r:id="rId4"/>
    <p:sldId id="287" r:id="rId5"/>
    <p:sldId id="306" r:id="rId6"/>
    <p:sldId id="288" r:id="rId7"/>
    <p:sldId id="300" r:id="rId8"/>
    <p:sldId id="301" r:id="rId9"/>
    <p:sldId id="535" r:id="rId10"/>
    <p:sldId id="536" r:id="rId11"/>
    <p:sldId id="302" r:id="rId12"/>
    <p:sldId id="303" r:id="rId13"/>
    <p:sldId id="304" r:id="rId14"/>
    <p:sldId id="305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24" r:id="rId27"/>
    <p:sldId id="325" r:id="rId28"/>
    <p:sldId id="318" r:id="rId29"/>
    <p:sldId id="319" r:id="rId30"/>
    <p:sldId id="320" r:id="rId31"/>
    <p:sldId id="321" r:id="rId32"/>
    <p:sldId id="322" r:id="rId33"/>
    <p:sldId id="323" r:id="rId34"/>
    <p:sldId id="326" r:id="rId35"/>
    <p:sldId id="327" r:id="rId36"/>
    <p:sldId id="328" r:id="rId37"/>
    <p:sldId id="53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KsY6vvfk+cgDcwgTL96WA==" hashData="DsKbY+8usu8Ueud7H1QB61bBet4pW3dN1JKkP/mmXfuz51ghhyRIWceGF7STrCsmaH33QA5jBokyQd1Vki3oFQ=="/>
  <p:extLst>
    <p:ext uri="{521415D9-36F7-43E2-AB2F-B90AF26B5E84}">
      <p14:sectionLst xmlns:p14="http://schemas.microsoft.com/office/powerpoint/2010/main">
        <p14:section name="Default Section" id="{C16FB5EB-FC4F-4BC0-8AF8-0A2376E8A8E3}">
          <p14:sldIdLst>
            <p14:sldId id="537"/>
            <p14:sldId id="538"/>
          </p14:sldIdLst>
        </p14:section>
        <p14:section name="Introduction of UDF" id="{1596BAB0-5BDE-44BC-AAAD-D57292BF99B3}">
          <p14:sldIdLst>
            <p14:sldId id="286"/>
            <p14:sldId id="287"/>
            <p14:sldId id="306"/>
          </p14:sldIdLst>
        </p14:section>
        <p14:section name="Elements of UDF (Function declaration, call and definition)" id="{143452A7-0380-4C30-A23A-166ACE40D3F9}">
          <p14:sldIdLst>
            <p14:sldId id="288"/>
            <p14:sldId id="300"/>
            <p14:sldId id="301"/>
            <p14:sldId id="535"/>
            <p14:sldId id="536"/>
            <p14:sldId id="302"/>
            <p14:sldId id="303"/>
            <p14:sldId id="304"/>
            <p14:sldId id="305"/>
          </p14:sldIdLst>
        </p14:section>
        <p14:section name="Categories of functions" id="{7FB3AA36-CB59-4D00-BDFD-7C131902EE72}">
          <p14:sldIdLst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Call by value and Call by reference" id="{8C5D5FE5-6658-437B-B5D9-A707E8A6121D}">
          <p14:sldIdLst>
            <p14:sldId id="313"/>
            <p14:sldId id="314"/>
            <p14:sldId id="315"/>
            <p14:sldId id="316"/>
            <p14:sldId id="317"/>
          </p14:sldIdLst>
        </p14:section>
        <p14:section name="Passing an arrays to function" id="{EB70FF03-E331-4B69-9EE6-EA9D7D880BEA}">
          <p14:sldIdLst>
            <p14:sldId id="324"/>
            <p14:sldId id="325"/>
          </p14:sldIdLst>
        </p14:section>
        <p14:section name="Recursion" id="{8E373882-385B-4EB3-98E7-75658C2C11D7}">
          <p14:sldIdLst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Storage Classes" id="{0D14EC42-4D57-474A-A328-18F7CBF522C8}">
          <p14:sldIdLst>
            <p14:sldId id="326"/>
            <p14:sldId id="327"/>
            <p14:sldId id="328"/>
            <p14:sldId id="5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E3F"/>
    <a:srgbClr val="607D8B"/>
    <a:srgbClr val="1D6BA5"/>
    <a:srgbClr val="ED524F"/>
    <a:srgbClr val="1D3064"/>
    <a:srgbClr val="301B92"/>
    <a:srgbClr val="673BB7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4" autoAdjust="0"/>
    <p:restoredTop sz="93883" autoAdjust="0"/>
  </p:normalViewPr>
  <p:slideViewPr>
    <p:cSldViewPr snapToGrid="0">
      <p:cViewPr varScale="1">
        <p:scale>
          <a:sx n="76" d="100"/>
          <a:sy n="76" d="100"/>
        </p:scale>
        <p:origin x="1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baseline="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B9640B7-997C-9C25-1B60-FFA119F3D61B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840E099-77FE-1023-1039-DDCA41637BD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74FE67-09E9-86BD-19E8-E9022BB76A97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3F770C5-0AAA-BA67-5115-2A978347670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BE5B713-9BBA-E4C6-20F6-5F4E5140876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Functions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sz="8800" dirty="0"/>
              <a:t>Functions</a:t>
            </a:r>
            <a:endParaRPr lang="en-US" sz="28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580756" y="3248205"/>
            <a:ext cx="7670110" cy="110866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CO-1: </a:t>
            </a:r>
            <a:r>
              <a:rPr lang="en-US" sz="3200" dirty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perform C programs using function and storage </a:t>
            </a:r>
            <a:r>
              <a:rPr lang="en-US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class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62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6824426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AD1457"/>
                </a:solidFill>
              </a:rPr>
              <a:t>Outline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 smtClean="0">
                <a:solidFill>
                  <a:srgbClr val="424242"/>
                </a:solidFill>
              </a:rPr>
              <a:t>Introduction </a:t>
            </a:r>
            <a:r>
              <a:rPr lang="en-US" sz="2100" dirty="0">
                <a:solidFill>
                  <a:srgbClr val="424242"/>
                </a:solidFill>
              </a:rPr>
              <a:t>of UDF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Elements of UDF (Function declaration, call and definition)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Categories of functions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Call by value and Call by reference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Passing an arrays to function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Recursion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Storage Classes</a:t>
            </a:r>
          </a:p>
        </p:txBody>
      </p:sp>
    </p:spTree>
    <p:extLst>
      <p:ext uri="{BB962C8B-B14F-4D97-AF65-F5344CB8AC3E}">
        <p14:creationId xmlns:p14="http://schemas.microsoft.com/office/powerpoint/2010/main" val="216753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Introduction of UDF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UDF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03937" cy="5649046"/>
          </a:xfrm>
        </p:spPr>
        <p:txBody>
          <a:bodyPr/>
          <a:lstStyle/>
          <a:p>
            <a:r>
              <a:rPr lang="en-IN" dirty="0"/>
              <a:t>Function </a:t>
            </a:r>
            <a:r>
              <a:rPr lang="en-IN" dirty="0" smtClean="0"/>
              <a:t>means </a:t>
            </a:r>
            <a:r>
              <a:rPr lang="en-IN" dirty="0"/>
              <a:t>a </a:t>
            </a:r>
            <a:r>
              <a:rPr lang="en-IN" b="1" dirty="0">
                <a:solidFill>
                  <a:schemeClr val="accent6"/>
                </a:solidFill>
              </a:rPr>
              <a:t>block of code </a:t>
            </a:r>
            <a:r>
              <a:rPr lang="en-IN" dirty="0"/>
              <a:t>which is written by the programmer to perform specific task.</a:t>
            </a:r>
          </a:p>
          <a:p>
            <a:r>
              <a:rPr lang="en-IN" dirty="0"/>
              <a:t>Many time, you need to write the same code more than once, because of that unnecessary repetition of code will be there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IN" dirty="0"/>
              <a:t>C language provides functionality that you can declare and define the function which have one or more than one statements. </a:t>
            </a:r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IN" dirty="0"/>
              <a:t>When you want to perform that task, you can call that function as per the requirement.</a:t>
            </a:r>
          </a:p>
          <a:p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endParaRPr lang="en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89E2-EF92-4B2B-8941-DF01EC7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Need of UDF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9097E-E224-4BDB-8E69-167B95E5D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To make debugging easy</a:t>
            </a:r>
          </a:p>
          <a:p>
            <a:r>
              <a:rPr lang="en-IN" dirty="0"/>
              <a:t>To reuse c</a:t>
            </a:r>
            <a:r>
              <a:rPr lang="en-IN" sz="2400" dirty="0"/>
              <a:t>ode</a:t>
            </a:r>
            <a:endParaRPr lang="en-US" sz="24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IN" sz="2400" dirty="0"/>
              <a:t>To reduce length of the code</a:t>
            </a:r>
          </a:p>
          <a:p>
            <a:r>
              <a:rPr lang="en-IN" sz="2400" dirty="0"/>
              <a:t>To divide big problem </a:t>
            </a:r>
            <a:r>
              <a:rPr lang="en-IN" sz="2400" dirty="0" smtClean="0"/>
              <a:t>into </a:t>
            </a:r>
            <a:r>
              <a:rPr lang="en-IN" sz="2400" dirty="0"/>
              <a:t>small functions</a:t>
            </a:r>
            <a:endParaRPr lang="gu-IN" sz="24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IN" sz="2400" dirty="0"/>
              <a:t>To make easy searching of error </a:t>
            </a:r>
          </a:p>
          <a:p>
            <a:r>
              <a:rPr lang="en-IN" sz="2400" dirty="0"/>
              <a:t>To make program more readable and easy to understand</a:t>
            </a:r>
            <a:endParaRPr lang="gu-IN" sz="24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12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Elements of UDF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2645834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4700-A74B-4031-BE2F-E23E24DE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Elements UDF (User Defined Function)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9D83-208E-4A8C-947E-375EFAA05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Programmers can </a:t>
            </a:r>
            <a:r>
              <a:rPr lang="en-IN" b="1" dirty="0">
                <a:solidFill>
                  <a:schemeClr val="accent6"/>
                </a:solidFill>
              </a:rPr>
              <a:t>create function as per their need</a:t>
            </a:r>
            <a:r>
              <a:rPr lang="en-IN" dirty="0"/>
              <a:t>, it is known as “</a:t>
            </a:r>
            <a:r>
              <a:rPr lang="en-IN" b="1" dirty="0">
                <a:solidFill>
                  <a:schemeClr val="accent6"/>
                </a:solidFill>
              </a:rPr>
              <a:t>User Defined Function</a:t>
            </a:r>
            <a:r>
              <a:rPr lang="en-IN" dirty="0"/>
              <a:t>”</a:t>
            </a:r>
          </a:p>
          <a:p>
            <a:r>
              <a:rPr lang="en-US" dirty="0">
                <a:cs typeface="Lohit Gujarati" panose="020B0600000000000000" pitchFamily="34" charset="0"/>
              </a:rPr>
              <a:t>There are mainly </a:t>
            </a: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three</a:t>
            </a:r>
            <a:r>
              <a:rPr lang="en-US" dirty="0">
                <a:cs typeface="Lohit Gujarati" panose="020B0600000000000000" pitchFamily="34" charset="0"/>
              </a:rPr>
              <a:t> parts for User Defined Function;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Function Declaration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Function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Function Call</a:t>
            </a:r>
            <a:endParaRPr lang="en-IN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69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04E5-FE41-49D0-89B9-737DC6F6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1. Function Declaration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D48A-CCD3-4B81-B7F3-14F3E1EB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Like any variable or array, before using the function you have to declare the function.</a:t>
            </a:r>
          </a:p>
          <a:p>
            <a:r>
              <a:rPr lang="en-IN" sz="2400" dirty="0"/>
              <a:t>To declare a function there is a syntax.</a:t>
            </a:r>
          </a:p>
          <a:p>
            <a:r>
              <a:rPr lang="en-US" dirty="0">
                <a:cs typeface="Lohit Gujarati" panose="020B0600000000000000" pitchFamily="34" charset="0"/>
              </a:rPr>
              <a:t>Function Declaration contains 4 things;	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Return type of the Function  </a:t>
            </a:r>
          </a:p>
          <a:p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9B51E73-03B0-48F1-AA3F-0F01285519A1}"/>
              </a:ext>
            </a:extLst>
          </p:cNvPr>
          <p:cNvSpPr/>
          <p:nvPr/>
        </p:nvSpPr>
        <p:spPr>
          <a:xfrm>
            <a:off x="4135315" y="2313868"/>
            <a:ext cx="5550794" cy="1269223"/>
          </a:xfrm>
          <a:prstGeom prst="wedgeRoundRectCallout">
            <a:avLst>
              <a:gd name="adj1" fmla="val -55186"/>
              <a:gd name="adj2" fmla="val -4215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1"/>
                </a:solidFill>
              </a:rPr>
              <a:t>When you declare any function for any task, at the end, it will return you some value.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1"/>
                </a:solidFill>
              </a:rPr>
              <a:t>Value of the return type can be int, float, double, char</a:t>
            </a:r>
            <a:endParaRPr lang="gu-IN" sz="1400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1"/>
                </a:solidFill>
              </a:rPr>
              <a:t>If function does not return any value, then Value of the return type would be void</a:t>
            </a:r>
            <a:endParaRPr lang="gu-IN" sz="1400" b="1" dirty="0">
              <a:solidFill>
                <a:schemeClr val="accent1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46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04E5-FE41-49D0-89B9-737DC6F6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1. Function Declaration (Conti…)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D48A-CCD3-4B81-B7F3-14F3E1EB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Like any variable or array, before using the function you have to declare the function.</a:t>
            </a:r>
          </a:p>
          <a:p>
            <a:r>
              <a:rPr lang="en-IN" sz="2400" dirty="0"/>
              <a:t>To declare a function there is a syntax.</a:t>
            </a:r>
          </a:p>
          <a:p>
            <a:r>
              <a:rPr lang="en-US" dirty="0">
                <a:cs typeface="Lohit Gujarati" panose="020B0600000000000000" pitchFamily="34" charset="0"/>
              </a:rPr>
              <a:t>Function Declaration contains 4 things;	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Return type of the Function  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Name of the Function </a:t>
            </a:r>
          </a:p>
          <a:p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E4F95C3-A3EF-459B-A692-B371D012ED29}"/>
              </a:ext>
            </a:extLst>
          </p:cNvPr>
          <p:cNvSpPr/>
          <p:nvPr/>
        </p:nvSpPr>
        <p:spPr>
          <a:xfrm>
            <a:off x="3576856" y="2695556"/>
            <a:ext cx="5550794" cy="414963"/>
          </a:xfrm>
          <a:prstGeom prst="wedgeRoundRectCallout">
            <a:avLst>
              <a:gd name="adj1" fmla="val -54940"/>
              <a:gd name="adj2" fmla="val -4215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Name of the function is any valid identifier in C.</a:t>
            </a:r>
          </a:p>
        </p:txBody>
      </p:sp>
    </p:spTree>
    <p:extLst>
      <p:ext uri="{BB962C8B-B14F-4D97-AF65-F5344CB8AC3E}">
        <p14:creationId xmlns:p14="http://schemas.microsoft.com/office/powerpoint/2010/main" val="262192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04E5-FE41-49D0-89B9-737DC6F6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1. Function Declaration (Conti…)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D48A-CCD3-4B81-B7F3-14F3E1EB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Like any variable or array, before using the function you have to declare the function.</a:t>
            </a:r>
          </a:p>
          <a:p>
            <a:r>
              <a:rPr lang="en-IN" sz="2400" dirty="0"/>
              <a:t>To declare a function there is a syntax.</a:t>
            </a:r>
          </a:p>
          <a:p>
            <a:r>
              <a:rPr lang="en-US" dirty="0">
                <a:cs typeface="Lohit Gujarati" panose="020B0600000000000000" pitchFamily="34" charset="0"/>
              </a:rPr>
              <a:t>Function Declaration contains 4 things;	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Return type of the Function  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Name of the Function 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Parameter List </a:t>
            </a:r>
          </a:p>
          <a:p>
            <a:pPr lvl="1"/>
            <a:r>
              <a:rPr lang="en-US" b="1" dirty="0">
                <a:cs typeface="Lohit Gujarati" panose="020B0600000000000000" pitchFamily="34" charset="0"/>
              </a:rPr>
              <a:t>Terminating Semicolon (;)</a:t>
            </a:r>
            <a:endParaRPr lang="gu-IN" b="1" dirty="0">
              <a:cs typeface="Lohit Gujarati" panose="020B0600000000000000" pitchFamily="34" charset="0"/>
            </a:endParaRPr>
          </a:p>
          <a:p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8EB4145-8EBF-43A8-8E68-40309CEE7132}"/>
              </a:ext>
            </a:extLst>
          </p:cNvPr>
          <p:cNvSpPr/>
          <p:nvPr/>
        </p:nvSpPr>
        <p:spPr>
          <a:xfrm>
            <a:off x="3984312" y="2951050"/>
            <a:ext cx="5550794" cy="636962"/>
          </a:xfrm>
          <a:prstGeom prst="wedgeRoundRectCallout">
            <a:avLst>
              <a:gd name="adj1" fmla="val -74963"/>
              <a:gd name="adj2" fmla="val -4655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1"/>
                </a:solidFill>
              </a:rPr>
              <a:t>Parameter List defines type and number arguments required when you call them.</a:t>
            </a:r>
            <a:endParaRPr 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53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DA64-7D9C-47F1-8A4D-B194225C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1. Function Declaration (Conti…)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01F1-4FF7-474D-83B1-3DCDCE0E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268F8-3D11-4D79-AEB9-8396E84C5332}"/>
              </a:ext>
            </a:extLst>
          </p:cNvPr>
          <p:cNvSpPr txBox="1"/>
          <p:nvPr/>
        </p:nvSpPr>
        <p:spPr>
          <a:xfrm>
            <a:off x="2156138" y="155941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E6EC1-0D8E-4F04-98ED-5CB8E903C21F}"/>
              </a:ext>
            </a:extLst>
          </p:cNvPr>
          <p:cNvSpPr txBox="1"/>
          <p:nvPr/>
        </p:nvSpPr>
        <p:spPr>
          <a:xfrm>
            <a:off x="3527738" y="155941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Name of the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59C9B-BF17-46AB-8C31-D33293AD2C2A}"/>
              </a:ext>
            </a:extLst>
          </p:cNvPr>
          <p:cNvSpPr txBox="1"/>
          <p:nvPr/>
        </p:nvSpPr>
        <p:spPr>
          <a:xfrm>
            <a:off x="5813738" y="1559417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(type1 arg1, type2 arg2,……..)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CBE9E-721E-4AAC-BC14-9B06F437123A}"/>
              </a:ext>
            </a:extLst>
          </p:cNvPr>
          <p:cNvSpPr txBox="1"/>
          <p:nvPr/>
        </p:nvSpPr>
        <p:spPr>
          <a:xfrm>
            <a:off x="8830362" y="155941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E326C6-0B15-4029-B8E6-2A925906E038}"/>
              </a:ext>
            </a:extLst>
          </p:cNvPr>
          <p:cNvCxnSpPr/>
          <p:nvPr/>
        </p:nvCxnSpPr>
        <p:spPr>
          <a:xfrm flipV="1">
            <a:off x="2689538" y="1928749"/>
            <a:ext cx="0" cy="129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5419BCC-AD17-41B4-985F-6F6F60F3CA81}"/>
              </a:ext>
            </a:extLst>
          </p:cNvPr>
          <p:cNvSpPr/>
          <p:nvPr/>
        </p:nvSpPr>
        <p:spPr>
          <a:xfrm>
            <a:off x="2346638" y="3250581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17EB4B-CCB9-4E2D-9246-080EC02DD784}"/>
              </a:ext>
            </a:extLst>
          </p:cNvPr>
          <p:cNvCxnSpPr/>
          <p:nvPr/>
        </p:nvCxnSpPr>
        <p:spPr>
          <a:xfrm flipV="1">
            <a:off x="4635321" y="1928749"/>
            <a:ext cx="0" cy="129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472E13B-1BC9-4923-A4FF-4886EE575366}"/>
              </a:ext>
            </a:extLst>
          </p:cNvPr>
          <p:cNvSpPr/>
          <p:nvPr/>
        </p:nvSpPr>
        <p:spPr>
          <a:xfrm>
            <a:off x="4292421" y="3246773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0C1278-6954-4138-BF40-DAFD5FA16066}"/>
              </a:ext>
            </a:extLst>
          </p:cNvPr>
          <p:cNvCxnSpPr/>
          <p:nvPr/>
        </p:nvCxnSpPr>
        <p:spPr>
          <a:xfrm flipV="1">
            <a:off x="7091209" y="1928749"/>
            <a:ext cx="0" cy="129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21B02D1-EAEE-4E7B-8864-38CE0CA3431E}"/>
              </a:ext>
            </a:extLst>
          </p:cNvPr>
          <p:cNvSpPr/>
          <p:nvPr/>
        </p:nvSpPr>
        <p:spPr>
          <a:xfrm>
            <a:off x="6748309" y="3250581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E5539-86A1-4170-882C-9F4A353ECA59}"/>
              </a:ext>
            </a:extLst>
          </p:cNvPr>
          <p:cNvCxnSpPr/>
          <p:nvPr/>
        </p:nvCxnSpPr>
        <p:spPr>
          <a:xfrm flipV="1">
            <a:off x="8933456" y="1928749"/>
            <a:ext cx="0" cy="129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333111C-A600-4C38-8F2C-96394E4FD8BF}"/>
              </a:ext>
            </a:extLst>
          </p:cNvPr>
          <p:cNvSpPr/>
          <p:nvPr/>
        </p:nvSpPr>
        <p:spPr>
          <a:xfrm>
            <a:off x="8590556" y="3250581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0BA1E3-EC51-4728-A58D-9690454E8095}"/>
              </a:ext>
            </a:extLst>
          </p:cNvPr>
          <p:cNvSpPr txBox="1"/>
          <p:nvPr/>
        </p:nvSpPr>
        <p:spPr>
          <a:xfrm>
            <a:off x="2156138" y="447047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 addition (int a, int b);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F08EF2-7921-4F7D-A131-6F4D397D5F8F}"/>
              </a:ext>
            </a:extLst>
          </p:cNvPr>
          <p:cNvSpPr txBox="1"/>
          <p:nvPr/>
        </p:nvSpPr>
        <p:spPr>
          <a:xfrm>
            <a:off x="2156138" y="4839806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 addition (float a, int b);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CA40C-7376-447E-BB85-FFFDD354374B}"/>
              </a:ext>
            </a:extLst>
          </p:cNvPr>
          <p:cNvSpPr txBox="1"/>
          <p:nvPr/>
        </p:nvSpPr>
        <p:spPr>
          <a:xfrm>
            <a:off x="2156138" y="520913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 addition (float a, char b);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EBFCE8-5651-4498-95EB-3EFB9DD4E71C}"/>
              </a:ext>
            </a:extLst>
          </p:cNvPr>
          <p:cNvSpPr txBox="1"/>
          <p:nvPr/>
        </p:nvSpPr>
        <p:spPr>
          <a:xfrm>
            <a:off x="6880538" y="447047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double addition (double);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630D0-145E-4FD0-AFEC-B0DA6AD57075}"/>
              </a:ext>
            </a:extLst>
          </p:cNvPr>
          <p:cNvSpPr txBox="1"/>
          <p:nvPr/>
        </p:nvSpPr>
        <p:spPr>
          <a:xfrm>
            <a:off x="6880538" y="4839806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char _</a:t>
            </a:r>
            <a:r>
              <a:rPr lang="en-US" b="1" dirty="0" err="1">
                <a:solidFill>
                  <a:schemeClr val="accent6"/>
                </a:solidFill>
              </a:rPr>
              <a:t>ddition</a:t>
            </a:r>
            <a:r>
              <a:rPr lang="en-US" b="1" dirty="0">
                <a:solidFill>
                  <a:schemeClr val="accent6"/>
                </a:solidFill>
              </a:rPr>
              <a:t> (</a:t>
            </a:r>
            <a:r>
              <a:rPr lang="en-US" b="1" dirty="0" err="1">
                <a:solidFill>
                  <a:schemeClr val="accent6"/>
                </a:solidFill>
              </a:rPr>
              <a:t>char,int</a:t>
            </a:r>
            <a:r>
              <a:rPr lang="en-US" b="1" dirty="0">
                <a:solidFill>
                  <a:schemeClr val="accent6"/>
                </a:solidFill>
              </a:rPr>
              <a:t>);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A5AE6-19AE-44D1-8651-00B7BA855BB7}"/>
              </a:ext>
            </a:extLst>
          </p:cNvPr>
          <p:cNvSpPr txBox="1"/>
          <p:nvPr/>
        </p:nvSpPr>
        <p:spPr>
          <a:xfrm>
            <a:off x="6880538" y="5209138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 addition (double)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97B4D-49C0-4BA5-8E3C-50760815AF55}"/>
              </a:ext>
            </a:extLst>
          </p:cNvPr>
          <p:cNvSpPr txBox="1"/>
          <p:nvPr/>
        </p:nvSpPr>
        <p:spPr>
          <a:xfrm>
            <a:off x="5311715" y="4470474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6F76C-1970-49B2-A8FA-BA4EF2083575}"/>
              </a:ext>
            </a:extLst>
          </p:cNvPr>
          <p:cNvSpPr txBox="1"/>
          <p:nvPr/>
        </p:nvSpPr>
        <p:spPr>
          <a:xfrm>
            <a:off x="5311715" y="4769029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236AF-BC7A-4C8F-9B76-55B01155D9E2}"/>
              </a:ext>
            </a:extLst>
          </p:cNvPr>
          <p:cNvSpPr txBox="1"/>
          <p:nvPr/>
        </p:nvSpPr>
        <p:spPr>
          <a:xfrm>
            <a:off x="5311715" y="5132194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8B15AD-66D6-4E02-B014-0CB99378B85D}"/>
              </a:ext>
            </a:extLst>
          </p:cNvPr>
          <p:cNvSpPr txBox="1"/>
          <p:nvPr/>
        </p:nvSpPr>
        <p:spPr>
          <a:xfrm>
            <a:off x="9592362" y="4393872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0DCB7E-E73A-460A-AFED-E8DE6BA2F6CA}"/>
              </a:ext>
            </a:extLst>
          </p:cNvPr>
          <p:cNvSpPr txBox="1"/>
          <p:nvPr/>
        </p:nvSpPr>
        <p:spPr>
          <a:xfrm>
            <a:off x="9592362" y="4801505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E041D9-EBAE-4850-97EC-98B76C7194AD}"/>
              </a:ext>
            </a:extLst>
          </p:cNvPr>
          <p:cNvSpPr txBox="1"/>
          <p:nvPr/>
        </p:nvSpPr>
        <p:spPr>
          <a:xfrm>
            <a:off x="9592362" y="5130626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×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76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 animBg="1"/>
      <p:bldP spid="11" grpId="0" animBg="1"/>
      <p:bldP spid="13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4256-0433-4711-A7CB-476C3AF9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Lohit Gujarati" panose="020B0600000000000000" pitchFamily="34" charset="0"/>
              </a:rPr>
              <a:t>2</a:t>
            </a:r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. Function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D04AA-F40D-405B-BF0A-058DCAC0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Part 1, Part 2 and Part 3 </a:t>
            </a:r>
            <a:r>
              <a:rPr lang="en-IN" dirty="0" smtClean="0"/>
              <a:t>are </a:t>
            </a:r>
            <a:r>
              <a:rPr lang="en-IN" dirty="0" err="1" smtClean="0"/>
              <a:t>combinedly</a:t>
            </a:r>
            <a:r>
              <a:rPr lang="en-IN" dirty="0" smtClean="0"/>
              <a:t> </a:t>
            </a:r>
            <a:r>
              <a:rPr lang="en-IN" dirty="0"/>
              <a:t>known as </a:t>
            </a:r>
            <a:r>
              <a:rPr lang="en-IN" dirty="0">
                <a:solidFill>
                  <a:schemeClr val="accent6"/>
                </a:solidFill>
              </a:rPr>
              <a:t>“</a:t>
            </a:r>
            <a:r>
              <a:rPr lang="en-IN" b="1" dirty="0">
                <a:solidFill>
                  <a:schemeClr val="accent6"/>
                </a:solidFill>
              </a:rPr>
              <a:t>Function Header</a:t>
            </a:r>
            <a:r>
              <a:rPr lang="en-IN" dirty="0">
                <a:solidFill>
                  <a:schemeClr val="accent6"/>
                </a:solidFill>
              </a:rPr>
              <a:t>”</a:t>
            </a:r>
          </a:p>
          <a:p>
            <a:r>
              <a:rPr lang="en-IN" dirty="0"/>
              <a:t>Arguments are know as </a:t>
            </a:r>
            <a:r>
              <a:rPr lang="en-IN" dirty="0">
                <a:solidFill>
                  <a:schemeClr val="accent6"/>
                </a:solidFill>
              </a:rPr>
              <a:t>“</a:t>
            </a:r>
            <a:r>
              <a:rPr lang="en-IN" b="1" dirty="0">
                <a:solidFill>
                  <a:schemeClr val="accent6"/>
                </a:solidFill>
              </a:rPr>
              <a:t>Formal Parameters/Arguments</a:t>
            </a:r>
            <a:r>
              <a:rPr lang="en-IN" dirty="0">
                <a:solidFill>
                  <a:schemeClr val="accent6"/>
                </a:solidFill>
              </a:rPr>
              <a:t>”</a:t>
            </a:r>
            <a:r>
              <a:rPr lang="en-US" dirty="0"/>
              <a:t>.</a:t>
            </a:r>
          </a:p>
          <a:p>
            <a:r>
              <a:rPr lang="en-IN" dirty="0"/>
              <a:t>Part 4 is known as </a:t>
            </a:r>
            <a:r>
              <a:rPr lang="en-IN" b="1" dirty="0">
                <a:solidFill>
                  <a:schemeClr val="accent6"/>
                </a:solidFill>
              </a:rPr>
              <a:t>“Function Body”</a:t>
            </a:r>
            <a:endParaRPr lang="gu-IN" b="1" dirty="0">
              <a:solidFill>
                <a:schemeClr val="accent6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0C222-ED83-425D-AA4C-E409F009C8F3}"/>
              </a:ext>
            </a:extLst>
          </p:cNvPr>
          <p:cNvSpPr txBox="1"/>
          <p:nvPr/>
        </p:nvSpPr>
        <p:spPr>
          <a:xfrm>
            <a:off x="4953000" y="418806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0EB36-9125-4C54-9114-3EA8E9904207}"/>
              </a:ext>
            </a:extLst>
          </p:cNvPr>
          <p:cNvSpPr txBox="1"/>
          <p:nvPr/>
        </p:nvSpPr>
        <p:spPr>
          <a:xfrm>
            <a:off x="6324600" y="418806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Name of the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A7E24-68F3-4150-8FAF-6343876B1384}"/>
              </a:ext>
            </a:extLst>
          </p:cNvPr>
          <p:cNvSpPr txBox="1"/>
          <p:nvPr/>
        </p:nvSpPr>
        <p:spPr>
          <a:xfrm>
            <a:off x="8610600" y="418806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(type1 arg1, type2 arg2,……..)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CB72C0-85C7-45E4-B633-8B74FB81E7F6}"/>
              </a:ext>
            </a:extLst>
          </p:cNvPr>
          <p:cNvSpPr/>
          <p:nvPr/>
        </p:nvSpPr>
        <p:spPr>
          <a:xfrm>
            <a:off x="4438371" y="3581377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E4398C-8CB0-4ACD-9937-FE264112DCF1}"/>
              </a:ext>
            </a:extLst>
          </p:cNvPr>
          <p:cNvSpPr/>
          <p:nvPr/>
        </p:nvSpPr>
        <p:spPr>
          <a:xfrm>
            <a:off x="9448800" y="5834435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9D768-8EC3-4AA0-ADA5-97ABCF0188DA}"/>
              </a:ext>
            </a:extLst>
          </p:cNvPr>
          <p:cNvSpPr txBox="1"/>
          <p:nvPr/>
        </p:nvSpPr>
        <p:spPr>
          <a:xfrm>
            <a:off x="4953000" y="466276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{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5F162-CE80-4CE0-B7ED-D0E4EADCFB63}"/>
              </a:ext>
            </a:extLst>
          </p:cNvPr>
          <p:cNvSpPr txBox="1"/>
          <p:nvPr/>
        </p:nvSpPr>
        <p:spPr>
          <a:xfrm>
            <a:off x="4953000" y="568562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4F1BD-6847-4A5D-908C-6D052C8A1C0A}"/>
              </a:ext>
            </a:extLst>
          </p:cNvPr>
          <p:cNvSpPr txBox="1"/>
          <p:nvPr/>
        </p:nvSpPr>
        <p:spPr>
          <a:xfrm>
            <a:off x="5638800" y="526652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//function body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DF564E-1FB1-4EA2-B26C-73DBF1205C4A}"/>
              </a:ext>
            </a:extLst>
          </p:cNvPr>
          <p:cNvCxnSpPr/>
          <p:nvPr/>
        </p:nvCxnSpPr>
        <p:spPr>
          <a:xfrm flipH="1">
            <a:off x="5645200" y="3875598"/>
            <a:ext cx="1123" cy="39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D1E9388-D7ED-4384-9396-912826B14F54}"/>
              </a:ext>
            </a:extLst>
          </p:cNvPr>
          <p:cNvSpPr/>
          <p:nvPr/>
        </p:nvSpPr>
        <p:spPr>
          <a:xfrm>
            <a:off x="7990775" y="3504659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2B2EDF-6B81-415E-9C85-816A46259B17}"/>
              </a:ext>
            </a:extLst>
          </p:cNvPr>
          <p:cNvCxnSpPr/>
          <p:nvPr/>
        </p:nvCxnSpPr>
        <p:spPr>
          <a:xfrm flipH="1">
            <a:off x="7476146" y="3840109"/>
            <a:ext cx="1123" cy="39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5377F58-8518-4D44-A7C1-62510200EE87}"/>
              </a:ext>
            </a:extLst>
          </p:cNvPr>
          <p:cNvSpPr/>
          <p:nvPr/>
        </p:nvSpPr>
        <p:spPr>
          <a:xfrm>
            <a:off x="9558895" y="3103844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5C0CCE-C35A-48F6-87B9-639594582D0C}"/>
              </a:ext>
            </a:extLst>
          </p:cNvPr>
          <p:cNvCxnSpPr/>
          <p:nvPr/>
        </p:nvCxnSpPr>
        <p:spPr>
          <a:xfrm flipH="1">
            <a:off x="9901795" y="3797297"/>
            <a:ext cx="1123" cy="39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58">
            <a:extLst>
              <a:ext uri="{FF2B5EF4-FFF2-40B4-BE49-F238E27FC236}">
                <a16:creationId xmlns:a16="http://schemas.microsoft.com/office/drawing/2014/main" id="{24A22194-8417-4934-B232-39EDC56FD1C4}"/>
              </a:ext>
            </a:extLst>
          </p:cNvPr>
          <p:cNvCxnSpPr>
            <a:stCxn id="8" idx="2"/>
          </p:cNvCxnSpPr>
          <p:nvPr/>
        </p:nvCxnSpPr>
        <p:spPr>
          <a:xfrm rot="10800000">
            <a:off x="7321646" y="5451195"/>
            <a:ext cx="2127155" cy="726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C3C7E7-042F-40DC-8778-EE8253F74172}"/>
              </a:ext>
            </a:extLst>
          </p:cNvPr>
          <p:cNvCxnSpPr/>
          <p:nvPr/>
        </p:nvCxnSpPr>
        <p:spPr>
          <a:xfrm>
            <a:off x="5124171" y="3875598"/>
            <a:ext cx="5146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F6EAB0-AA29-4E83-A62F-ADA19BA532E1}"/>
              </a:ext>
            </a:extLst>
          </p:cNvPr>
          <p:cNvCxnSpPr/>
          <p:nvPr/>
        </p:nvCxnSpPr>
        <p:spPr>
          <a:xfrm>
            <a:off x="7467600" y="3843077"/>
            <a:ext cx="5146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B4108319-061A-4920-9809-2308B7C649E4}"/>
              </a:ext>
            </a:extLst>
          </p:cNvPr>
          <p:cNvSpPr/>
          <p:nvPr/>
        </p:nvSpPr>
        <p:spPr>
          <a:xfrm>
            <a:off x="3624358" y="3797297"/>
            <a:ext cx="276263" cy="2629261"/>
          </a:xfrm>
          <a:prstGeom prst="leftBracket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18243F-504C-47BB-9551-3BBD545B2D45}"/>
              </a:ext>
            </a:extLst>
          </p:cNvPr>
          <p:cNvSpPr txBox="1"/>
          <p:nvPr/>
        </p:nvSpPr>
        <p:spPr>
          <a:xfrm>
            <a:off x="1502779" y="4788761"/>
            <a:ext cx="194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Function Definition Syntax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3434C7-C8F9-42F2-A7CB-7A06DBA21853}"/>
              </a:ext>
            </a:extLst>
          </p:cNvPr>
          <p:cNvSpPr/>
          <p:nvPr/>
        </p:nvSpPr>
        <p:spPr>
          <a:xfrm>
            <a:off x="8385223" y="1356492"/>
            <a:ext cx="3399515" cy="11341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b="1" dirty="0">
                <a:solidFill>
                  <a:schemeClr val="accent6"/>
                </a:solidFill>
              </a:rPr>
              <a:t>NOTE: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/>
                </a:solidFill>
              </a:rPr>
              <a:t>Here at the end of the parameter list</a:t>
            </a:r>
            <a:r>
              <a:rPr lang="en-IN" b="1" dirty="0">
                <a:solidFill>
                  <a:schemeClr val="accent6"/>
                </a:solidFill>
              </a:rPr>
              <a:t> ; </a:t>
            </a:r>
            <a:r>
              <a:rPr lang="en-IN" dirty="0">
                <a:solidFill>
                  <a:schemeClr val="accent6"/>
                </a:solidFill>
              </a:rPr>
              <a:t>is not required</a:t>
            </a:r>
          </a:p>
        </p:txBody>
      </p:sp>
    </p:spTree>
    <p:extLst>
      <p:ext uri="{BB962C8B-B14F-4D97-AF65-F5344CB8AC3E}">
        <p14:creationId xmlns:p14="http://schemas.microsoft.com/office/powerpoint/2010/main" val="28959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3" grpId="0" animBg="1"/>
      <p:bldP spid="15" grpId="0" animBg="1"/>
      <p:bldP spid="20" grpId="0" animBg="1"/>
      <p:bldP spid="22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8D7E-7D77-4AC2-8D03-4E127447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3. Function 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4B536-7341-4962-8730-592146B6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When you call the function, control will transfer to the function. </a:t>
            </a:r>
          </a:p>
          <a:p>
            <a:r>
              <a:rPr lang="en-IN" sz="2400" dirty="0"/>
              <a:t>Here arguments are knows as “Actual Parameters</a:t>
            </a:r>
            <a:r>
              <a:rPr lang="en-US" dirty="0"/>
              <a:t>/</a:t>
            </a:r>
            <a:r>
              <a:rPr lang="en-IN" sz="2400" dirty="0"/>
              <a:t>Arguments”</a:t>
            </a:r>
            <a:endParaRPr lang="en-US" sz="24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Syntax;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10A01-A77E-4F6A-A5F2-5DE7DBDCDE6F}"/>
              </a:ext>
            </a:extLst>
          </p:cNvPr>
          <p:cNvSpPr txBox="1"/>
          <p:nvPr/>
        </p:nvSpPr>
        <p:spPr>
          <a:xfrm>
            <a:off x="1741392" y="446696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Name of the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55BA2-6A40-4A4E-B25E-1CCD0812BABC}"/>
              </a:ext>
            </a:extLst>
          </p:cNvPr>
          <p:cNvSpPr txBox="1"/>
          <p:nvPr/>
        </p:nvSpPr>
        <p:spPr>
          <a:xfrm>
            <a:off x="3904128" y="4489042"/>
            <a:ext cx="181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(arg1,arg2,……..)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C8BC7F-AF9C-4F71-9D86-9FD99236183B}"/>
              </a:ext>
            </a:extLst>
          </p:cNvPr>
          <p:cNvSpPr/>
          <p:nvPr/>
        </p:nvSpPr>
        <p:spPr>
          <a:xfrm>
            <a:off x="2706778" y="3405991"/>
            <a:ext cx="685800" cy="685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367AF1-3326-4D2D-80AC-9FFDE51855BF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3048556" y="4091791"/>
            <a:ext cx="1122" cy="418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17F04B0-FE7C-49D6-87A0-620B8C2E0DE0}"/>
              </a:ext>
            </a:extLst>
          </p:cNvPr>
          <p:cNvSpPr/>
          <p:nvPr/>
        </p:nvSpPr>
        <p:spPr>
          <a:xfrm>
            <a:off x="4362735" y="3408446"/>
            <a:ext cx="685800" cy="685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A2134C-4CC6-4BC4-A90A-3D74976E7E66}"/>
              </a:ext>
            </a:extLst>
          </p:cNvPr>
          <p:cNvCxnSpPr/>
          <p:nvPr/>
        </p:nvCxnSpPr>
        <p:spPr>
          <a:xfrm flipH="1">
            <a:off x="4685746" y="4092718"/>
            <a:ext cx="1123" cy="391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4C69E4A-342A-4FAB-8CC5-F6D565276DC5}"/>
              </a:ext>
            </a:extLst>
          </p:cNvPr>
          <p:cNvSpPr/>
          <p:nvPr/>
        </p:nvSpPr>
        <p:spPr>
          <a:xfrm>
            <a:off x="6697999" y="3405991"/>
            <a:ext cx="685800" cy="6858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5E728-C484-4DBE-A616-A907508328CD}"/>
              </a:ext>
            </a:extLst>
          </p:cNvPr>
          <p:cNvSpPr txBox="1"/>
          <p:nvPr/>
        </p:nvSpPr>
        <p:spPr>
          <a:xfrm>
            <a:off x="5611905" y="4484132"/>
            <a:ext cx="22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2E22F4-ACBD-496B-9B32-5E9D696F07F6}"/>
              </a:ext>
            </a:extLst>
          </p:cNvPr>
          <p:cNvGrpSpPr/>
          <p:nvPr/>
        </p:nvGrpSpPr>
        <p:grpSpPr>
          <a:xfrm>
            <a:off x="5748222" y="3778682"/>
            <a:ext cx="949777" cy="706978"/>
            <a:chOff x="5748222" y="3778682"/>
            <a:chExt cx="949777" cy="70697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8A7830F-BED4-4471-88B2-498F774BD912}"/>
                </a:ext>
              </a:extLst>
            </p:cNvPr>
            <p:cNvCxnSpPr>
              <a:cxnSpLocks/>
            </p:cNvCxnSpPr>
            <p:nvPr/>
          </p:nvCxnSpPr>
          <p:spPr>
            <a:xfrm>
              <a:off x="5748222" y="3778682"/>
              <a:ext cx="0" cy="70697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BE12BD7-AF2D-4525-B397-C419C4A0F945}"/>
                </a:ext>
              </a:extLst>
            </p:cNvPr>
            <p:cNvCxnSpPr>
              <a:cxnSpLocks/>
            </p:cNvCxnSpPr>
            <p:nvPr/>
          </p:nvCxnSpPr>
          <p:spPr>
            <a:xfrm>
              <a:off x="5748222" y="3778682"/>
              <a:ext cx="94977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128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 animBg="1"/>
      <p:bldP spid="12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4141-B043-4746-8466-6A7C9618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Function’s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28C76-27D5-4A8A-B77B-9ECB97692935}"/>
              </a:ext>
            </a:extLst>
          </p:cNvPr>
          <p:cNvSpPr txBox="1"/>
          <p:nvPr/>
        </p:nvSpPr>
        <p:spPr>
          <a:xfrm>
            <a:off x="3055512" y="1039969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C9CAD-B910-4F53-9BAC-9A000184B016}"/>
              </a:ext>
            </a:extLst>
          </p:cNvPr>
          <p:cNvSpPr txBox="1"/>
          <p:nvPr/>
        </p:nvSpPr>
        <p:spPr>
          <a:xfrm>
            <a:off x="3055512" y="1818049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C85B5-86C5-415E-A1F0-4F28C744C777}"/>
              </a:ext>
            </a:extLst>
          </p:cNvPr>
          <p:cNvSpPr txBox="1"/>
          <p:nvPr/>
        </p:nvSpPr>
        <p:spPr>
          <a:xfrm>
            <a:off x="3055512" y="343076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6E196-D202-454C-856B-03B5E26564F2}"/>
              </a:ext>
            </a:extLst>
          </p:cNvPr>
          <p:cNvSpPr txBox="1"/>
          <p:nvPr/>
        </p:nvSpPr>
        <p:spPr>
          <a:xfrm>
            <a:off x="3055512" y="221029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8D65-5B6F-4C5E-BEB3-E2E9DD793503}"/>
              </a:ext>
            </a:extLst>
          </p:cNvPr>
          <p:cNvSpPr txBox="1"/>
          <p:nvPr/>
        </p:nvSpPr>
        <p:spPr>
          <a:xfrm>
            <a:off x="3055512" y="140930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addition(</a:t>
            </a:r>
            <a:r>
              <a:rPr lang="en-US" dirty="0" err="1"/>
              <a:t>int,int</a:t>
            </a:r>
            <a:r>
              <a:rPr lang="en-US" dirty="0"/>
              <a:t>);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AEDF7-2542-4FC9-BC95-4A608FE1CA9A}"/>
              </a:ext>
            </a:extLst>
          </p:cNvPr>
          <p:cNvSpPr txBox="1"/>
          <p:nvPr/>
        </p:nvSpPr>
        <p:spPr>
          <a:xfrm>
            <a:off x="3474612" y="260253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a=10,b=20;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F6F7B-045F-40CA-97D8-ACAF2E1690DB}"/>
              </a:ext>
            </a:extLst>
          </p:cNvPr>
          <p:cNvSpPr txBox="1"/>
          <p:nvPr/>
        </p:nvSpPr>
        <p:spPr>
          <a:xfrm>
            <a:off x="3474612" y="3005195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67AE7-2E1B-44F5-9D11-DD4FB7C9F61A}"/>
              </a:ext>
            </a:extLst>
          </p:cNvPr>
          <p:cNvSpPr txBox="1"/>
          <p:nvPr/>
        </p:nvSpPr>
        <p:spPr>
          <a:xfrm>
            <a:off x="3070640" y="3878715"/>
            <a:ext cx="24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addition(int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07BBC-6101-4AE7-B06F-5A1246725392}"/>
              </a:ext>
            </a:extLst>
          </p:cNvPr>
          <p:cNvSpPr txBox="1"/>
          <p:nvPr/>
        </p:nvSpPr>
        <p:spPr>
          <a:xfrm>
            <a:off x="3055512" y="54430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2EC1E-8AD6-43CA-BD96-F9AF508F2038}"/>
              </a:ext>
            </a:extLst>
          </p:cNvPr>
          <p:cNvSpPr txBox="1"/>
          <p:nvPr/>
        </p:nvSpPr>
        <p:spPr>
          <a:xfrm>
            <a:off x="3055512" y="4222569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31F45-1EF3-4C43-AFE5-6AF2085F7051}"/>
              </a:ext>
            </a:extLst>
          </p:cNvPr>
          <p:cNvSpPr txBox="1"/>
          <p:nvPr/>
        </p:nvSpPr>
        <p:spPr>
          <a:xfrm>
            <a:off x="3474612" y="461170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ans</a:t>
            </a:r>
            <a:r>
              <a:rPr lang="en-US" dirty="0"/>
              <a:t>= 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253A91-255A-4E7C-91F1-5F9E5DB2BCF0}"/>
              </a:ext>
            </a:extLst>
          </p:cNvPr>
          <p:cNvSpPr txBox="1"/>
          <p:nvPr/>
        </p:nvSpPr>
        <p:spPr>
          <a:xfrm>
            <a:off x="3474612" y="5014370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printf</a:t>
            </a:r>
            <a:r>
              <a:rPr lang="fr-FR" dirty="0"/>
              <a:t>("Ans </a:t>
            </a:r>
            <a:r>
              <a:rPr lang="fr-FR" dirty="0" err="1"/>
              <a:t>is</a:t>
            </a:r>
            <a:r>
              <a:rPr lang="fr-FR" dirty="0"/>
              <a:t>: %</a:t>
            </a:r>
            <a:r>
              <a:rPr lang="fr-FR" dirty="0" err="1"/>
              <a:t>d",ans</a:t>
            </a:r>
            <a:r>
              <a:rPr lang="fr-FR" dirty="0"/>
              <a:t>);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DF231C-9D0F-4E1A-BBB9-CD79E3904E48}"/>
              </a:ext>
            </a:extLst>
          </p:cNvPr>
          <p:cNvCxnSpPr/>
          <p:nvPr/>
        </p:nvCxnSpPr>
        <p:spPr>
          <a:xfrm>
            <a:off x="5186871" y="1610932"/>
            <a:ext cx="1333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6071F28-4DBA-4601-8983-80C481594489}"/>
              </a:ext>
            </a:extLst>
          </p:cNvPr>
          <p:cNvSpPr/>
          <p:nvPr/>
        </p:nvSpPr>
        <p:spPr>
          <a:xfrm>
            <a:off x="6536059" y="1330418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21110C37-2A0A-48EE-9807-B385326BF5C2}"/>
              </a:ext>
            </a:extLst>
          </p:cNvPr>
          <p:cNvCxnSpPr/>
          <p:nvPr/>
        </p:nvCxnSpPr>
        <p:spPr>
          <a:xfrm>
            <a:off x="4884312" y="4190472"/>
            <a:ext cx="2209800" cy="823898"/>
          </a:xfrm>
          <a:prstGeom prst="bentConnector3">
            <a:avLst>
              <a:gd name="adj1" fmla="val 10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70465B7-6E82-41B8-B7AE-9AA4FC2609E0}"/>
              </a:ext>
            </a:extLst>
          </p:cNvPr>
          <p:cNvSpPr/>
          <p:nvPr/>
        </p:nvSpPr>
        <p:spPr>
          <a:xfrm>
            <a:off x="7106159" y="4740406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DE9574-2F9A-406E-86FC-270EFDD81B5D}"/>
              </a:ext>
            </a:extLst>
          </p:cNvPr>
          <p:cNvCxnSpPr/>
          <p:nvPr/>
        </p:nvCxnSpPr>
        <p:spPr>
          <a:xfrm>
            <a:off x="4903362" y="3221119"/>
            <a:ext cx="1333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9BD7B23-0985-4C3B-A8AC-7CAA4D0E10E6}"/>
              </a:ext>
            </a:extLst>
          </p:cNvPr>
          <p:cNvSpPr/>
          <p:nvPr/>
        </p:nvSpPr>
        <p:spPr>
          <a:xfrm>
            <a:off x="6249628" y="2968486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EE7D64-2BD3-4C24-ABA0-FE4C450BC2BC}"/>
              </a:ext>
            </a:extLst>
          </p:cNvPr>
          <p:cNvCxnSpPr/>
          <p:nvPr/>
        </p:nvCxnSpPr>
        <p:spPr>
          <a:xfrm>
            <a:off x="8198451" y="4882165"/>
            <a:ext cx="1333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D2DC4D0-35C2-48FE-BADB-9E090F4752A4}"/>
              </a:ext>
            </a:extLst>
          </p:cNvPr>
          <p:cNvSpPr/>
          <p:nvPr/>
        </p:nvSpPr>
        <p:spPr>
          <a:xfrm>
            <a:off x="9540917" y="4619563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4E4B9A-F46F-4ED2-BDC7-5B90B309101B}"/>
              </a:ext>
            </a:extLst>
          </p:cNvPr>
          <p:cNvGrpSpPr/>
          <p:nvPr/>
        </p:nvGrpSpPr>
        <p:grpSpPr>
          <a:xfrm>
            <a:off x="4579512" y="3374527"/>
            <a:ext cx="3352800" cy="332442"/>
            <a:chOff x="2209800" y="3477558"/>
            <a:chExt cx="3352800" cy="33244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620F674-8258-4D73-8E94-F5F4917DA509}"/>
                </a:ext>
              </a:extLst>
            </p:cNvPr>
            <p:cNvCxnSpPr/>
            <p:nvPr/>
          </p:nvCxnSpPr>
          <p:spPr>
            <a:xfrm>
              <a:off x="2209800" y="3810000"/>
              <a:ext cx="3352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64D5314-C12E-4A13-9459-0F15DB21F720}"/>
                </a:ext>
              </a:extLst>
            </p:cNvPr>
            <p:cNvCxnSpPr/>
            <p:nvPr/>
          </p:nvCxnSpPr>
          <p:spPr>
            <a:xfrm flipV="1">
              <a:off x="2209800" y="3477558"/>
              <a:ext cx="0" cy="3324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B4B6DE15-1FE3-40E2-AD89-818B6D58CF4E}"/>
              </a:ext>
            </a:extLst>
          </p:cNvPr>
          <p:cNvSpPr/>
          <p:nvPr/>
        </p:nvSpPr>
        <p:spPr>
          <a:xfrm>
            <a:off x="7957910" y="3439731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ight Bracket 27">
            <a:extLst>
              <a:ext uri="{FF2B5EF4-FFF2-40B4-BE49-F238E27FC236}">
                <a16:creationId xmlns:a16="http://schemas.microsoft.com/office/drawing/2014/main" id="{409452EC-80A2-4019-82BC-F325B951056C}"/>
              </a:ext>
            </a:extLst>
          </p:cNvPr>
          <p:cNvSpPr/>
          <p:nvPr/>
        </p:nvSpPr>
        <p:spPr>
          <a:xfrm>
            <a:off x="7656088" y="4093652"/>
            <a:ext cx="542363" cy="1718727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53">
            <a:extLst>
              <a:ext uri="{FF2B5EF4-FFF2-40B4-BE49-F238E27FC236}">
                <a16:creationId xmlns:a16="http://schemas.microsoft.com/office/drawing/2014/main" id="{F5A40474-25D4-4CE7-B311-504B7C15A420}"/>
              </a:ext>
            </a:extLst>
          </p:cNvPr>
          <p:cNvSpPr/>
          <p:nvPr/>
        </p:nvSpPr>
        <p:spPr>
          <a:xfrm>
            <a:off x="3055512" y="3878715"/>
            <a:ext cx="2514600" cy="369332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D4E6CC-9735-4F0D-AB0A-1F43E1F5C42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570111" y="4063381"/>
            <a:ext cx="681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ECE38D9-E2F9-495E-8EB6-2BA415732199}"/>
              </a:ext>
            </a:extLst>
          </p:cNvPr>
          <p:cNvSpPr/>
          <p:nvPr/>
        </p:nvSpPr>
        <p:spPr>
          <a:xfrm>
            <a:off x="6251991" y="3799233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Left Bracket 31">
            <a:extLst>
              <a:ext uri="{FF2B5EF4-FFF2-40B4-BE49-F238E27FC236}">
                <a16:creationId xmlns:a16="http://schemas.microsoft.com/office/drawing/2014/main" id="{38E36448-8D24-451B-83DF-D14666FD84F3}"/>
              </a:ext>
            </a:extLst>
          </p:cNvPr>
          <p:cNvSpPr/>
          <p:nvPr/>
        </p:nvSpPr>
        <p:spPr>
          <a:xfrm>
            <a:off x="2826912" y="4407235"/>
            <a:ext cx="228600" cy="1220478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A717A3-BF53-4CDF-9B54-049C68A4A44F}"/>
              </a:ext>
            </a:extLst>
          </p:cNvPr>
          <p:cNvCxnSpPr>
            <a:cxnSpLocks/>
          </p:cNvCxnSpPr>
          <p:nvPr/>
        </p:nvCxnSpPr>
        <p:spPr>
          <a:xfrm flipH="1" flipV="1">
            <a:off x="1899786" y="4939737"/>
            <a:ext cx="906836" cy="13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340DA1CD-B736-4733-8771-84BBA4FC5C87}"/>
              </a:ext>
            </a:extLst>
          </p:cNvPr>
          <p:cNvSpPr/>
          <p:nvPr/>
        </p:nvSpPr>
        <p:spPr>
          <a:xfrm>
            <a:off x="1305755" y="4662669"/>
            <a:ext cx="573741" cy="5541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492A7E-6908-4C6C-8FB7-3CC70E81ECFD}"/>
              </a:ext>
            </a:extLst>
          </p:cNvPr>
          <p:cNvSpPr txBox="1"/>
          <p:nvPr/>
        </p:nvSpPr>
        <p:spPr>
          <a:xfrm>
            <a:off x="8651730" y="1401924"/>
            <a:ext cx="29807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Function Declaration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Function Definition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Function Header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Formal Arguments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Function Body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Function Call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accent6"/>
                </a:solidFill>
              </a:rPr>
              <a:t>Actual </a:t>
            </a:r>
            <a:r>
              <a:rPr lang="en-US" b="1" dirty="0">
                <a:solidFill>
                  <a:schemeClr val="accent6"/>
                </a:solidFill>
              </a:rPr>
              <a:t>Arguments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82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 animBg="1"/>
      <p:bldP spid="19" grpId="0" animBg="1"/>
      <p:bldP spid="21" grpId="0" animBg="1"/>
      <p:bldP spid="23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Category of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309176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0345-D2B4-4372-BC4C-B557C472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5FB23-79C5-4A38-A952-FD6C7574D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No Argument, No Return Type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With Argument, No Return Type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No Argument, With Return 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With Argument, With Return Type </a:t>
            </a:r>
          </a:p>
        </p:txBody>
      </p:sp>
    </p:spTree>
    <p:extLst>
      <p:ext uri="{BB962C8B-B14F-4D97-AF65-F5344CB8AC3E}">
        <p14:creationId xmlns:p14="http://schemas.microsoft.com/office/powerpoint/2010/main" val="232471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525F-CB00-408D-A253-1B749D36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No Argument , No Return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3DA58-1D28-47C1-BB1A-C9F2288D53A3}"/>
              </a:ext>
            </a:extLst>
          </p:cNvPr>
          <p:cNvSpPr txBox="1"/>
          <p:nvPr/>
        </p:nvSpPr>
        <p:spPr>
          <a:xfrm>
            <a:off x="520521" y="1079839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7624A-F7B0-421B-B096-A34D1913CDAC}"/>
              </a:ext>
            </a:extLst>
          </p:cNvPr>
          <p:cNvSpPr txBox="1"/>
          <p:nvPr/>
        </p:nvSpPr>
        <p:spPr>
          <a:xfrm>
            <a:off x="3519489" y="1969174"/>
            <a:ext cx="682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return type so you have to write void.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A9E86-9C5C-4E68-8258-D56B2C9B4FDB}"/>
              </a:ext>
            </a:extLst>
          </p:cNvPr>
          <p:cNvSpPr txBox="1"/>
          <p:nvPr/>
        </p:nvSpPr>
        <p:spPr>
          <a:xfrm>
            <a:off x="520520" y="1534378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1F828-6752-4494-8111-D7E11819132E}"/>
              </a:ext>
            </a:extLst>
          </p:cNvPr>
          <p:cNvSpPr txBox="1"/>
          <p:nvPr/>
        </p:nvSpPr>
        <p:spPr>
          <a:xfrm>
            <a:off x="970997" y="153357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1F929-7A66-41B2-82CB-D2221C205E71}"/>
              </a:ext>
            </a:extLst>
          </p:cNvPr>
          <p:cNvSpPr txBox="1"/>
          <p:nvPr/>
        </p:nvSpPr>
        <p:spPr>
          <a:xfrm>
            <a:off x="1345273" y="1533570"/>
            <a:ext cx="54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 )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BA1E6-916F-4196-910D-8DFF3C78FA3F}"/>
              </a:ext>
            </a:extLst>
          </p:cNvPr>
          <p:cNvSpPr txBox="1"/>
          <p:nvPr/>
        </p:nvSpPr>
        <p:spPr>
          <a:xfrm>
            <a:off x="3528239" y="1991935"/>
            <a:ext cx="7264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you don’t have to mention it here.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FE911-D0E3-4ED8-BA6C-3EA738BD5284}"/>
              </a:ext>
            </a:extLst>
          </p:cNvPr>
          <p:cNvSpPr txBox="1"/>
          <p:nvPr/>
        </p:nvSpPr>
        <p:spPr>
          <a:xfrm>
            <a:off x="3552893" y="1968054"/>
            <a:ext cx="554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Name of the function is add, so you have given name add.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23113-AEF5-4B95-A45C-55BB18D4603C}"/>
              </a:ext>
            </a:extLst>
          </p:cNvPr>
          <p:cNvSpPr txBox="1"/>
          <p:nvPr/>
        </p:nvSpPr>
        <p:spPr>
          <a:xfrm>
            <a:off x="500350" y="3266742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</a:t>
            </a:r>
            <a:r>
              <a:rPr lang="en-US" dirty="0"/>
              <a:t> add </a:t>
            </a:r>
            <a:r>
              <a:rPr lang="en-US" b="1" dirty="0">
                <a:solidFill>
                  <a:schemeClr val="accent6"/>
                </a:solidFill>
              </a:rPr>
              <a:t>(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3B607-D7E3-4C84-BB8F-ABDEBC24C8B1}"/>
              </a:ext>
            </a:extLst>
          </p:cNvPr>
          <p:cNvSpPr txBox="1"/>
          <p:nvPr/>
        </p:nvSpPr>
        <p:spPr>
          <a:xfrm>
            <a:off x="500350" y="358748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9F451-30F4-4756-A9C6-13A65550A202}"/>
              </a:ext>
            </a:extLst>
          </p:cNvPr>
          <p:cNvSpPr txBox="1"/>
          <p:nvPr/>
        </p:nvSpPr>
        <p:spPr>
          <a:xfrm>
            <a:off x="500350" y="5552666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3AB73-32B8-4BD8-801E-80AEA89F7533}"/>
              </a:ext>
            </a:extLst>
          </p:cNvPr>
          <p:cNvSpPr txBox="1"/>
          <p:nvPr/>
        </p:nvSpPr>
        <p:spPr>
          <a:xfrm>
            <a:off x="843250" y="387089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a,b,ans</a:t>
            </a:r>
            <a:r>
              <a:rPr lang="en-US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D8AB0-6209-4D55-AD29-8CAE341C587D}"/>
              </a:ext>
            </a:extLst>
          </p:cNvPr>
          <p:cNvSpPr txBox="1"/>
          <p:nvPr/>
        </p:nvSpPr>
        <p:spPr>
          <a:xfrm>
            <a:off x="843250" y="4222238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a and b:");</a:t>
            </a:r>
          </a:p>
          <a:p>
            <a:r>
              <a:rPr lang="en-US" dirty="0" err="1"/>
              <a:t>scanf</a:t>
            </a:r>
            <a:r>
              <a:rPr lang="en-US" dirty="0"/>
              <a:t>("%d %</a:t>
            </a:r>
            <a:r>
              <a:rPr lang="en-US" dirty="0" err="1"/>
              <a:t>d",&amp;a,&amp;b</a:t>
            </a:r>
            <a:r>
              <a:rPr lang="en-US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C2CEE4-AD06-4E36-BF35-A1F230612E69}"/>
              </a:ext>
            </a:extLst>
          </p:cNvPr>
          <p:cNvSpPr txBox="1"/>
          <p:nvPr/>
        </p:nvSpPr>
        <p:spPr>
          <a:xfrm>
            <a:off x="843250" y="479928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ans</a:t>
            </a:r>
            <a:r>
              <a:rPr lang="en-US" dirty="0"/>
              <a:t>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9A920-6236-400A-810E-4B448143E3D1}"/>
              </a:ext>
            </a:extLst>
          </p:cNvPr>
          <p:cNvSpPr txBox="1"/>
          <p:nvPr/>
        </p:nvSpPr>
        <p:spPr>
          <a:xfrm>
            <a:off x="843250" y="5153911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nTotal</a:t>
            </a:r>
            <a:r>
              <a:rPr lang="en-US" dirty="0"/>
              <a:t> is: %d",</a:t>
            </a:r>
            <a:r>
              <a:rPr lang="en-US" dirty="0" err="1"/>
              <a:t>ans</a:t>
            </a:r>
            <a:r>
              <a:rPr lang="en-US" dirty="0"/>
              <a:t>);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ABDB9-14E9-4F14-BDCA-2A2E4717143B}"/>
              </a:ext>
            </a:extLst>
          </p:cNvPr>
          <p:cNvSpPr txBox="1"/>
          <p:nvPr/>
        </p:nvSpPr>
        <p:spPr>
          <a:xfrm>
            <a:off x="520521" y="1946293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24007-A25E-4DAB-A576-E2410580F42B}"/>
              </a:ext>
            </a:extLst>
          </p:cNvPr>
          <p:cNvSpPr txBox="1"/>
          <p:nvPr/>
        </p:nvSpPr>
        <p:spPr>
          <a:xfrm>
            <a:off x="502592" y="222364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A4BD6-D742-42F8-9F92-78E46DB63F17}"/>
              </a:ext>
            </a:extLst>
          </p:cNvPr>
          <p:cNvSpPr txBox="1"/>
          <p:nvPr/>
        </p:nvSpPr>
        <p:spPr>
          <a:xfrm>
            <a:off x="542933" y="2897410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932B4F-0F28-488B-8FA1-CCDB0D017D3E}"/>
              </a:ext>
            </a:extLst>
          </p:cNvPr>
          <p:cNvSpPr txBox="1"/>
          <p:nvPr/>
        </p:nvSpPr>
        <p:spPr>
          <a:xfrm>
            <a:off x="792823" y="2594933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add();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BEFED1-9204-478D-AD7E-E616C08D0E22}"/>
              </a:ext>
            </a:extLst>
          </p:cNvPr>
          <p:cNvSpPr txBox="1"/>
          <p:nvPr/>
        </p:nvSpPr>
        <p:spPr>
          <a:xfrm>
            <a:off x="3552893" y="2011360"/>
            <a:ext cx="7264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that’s why when you are calling the function you don’t have to pass actual arguments.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94B955-A86B-4352-A6F6-50CA350DC2FC}"/>
              </a:ext>
            </a:extLst>
          </p:cNvPr>
          <p:cNvSpPr txBox="1"/>
          <p:nvPr/>
        </p:nvSpPr>
        <p:spPr>
          <a:xfrm>
            <a:off x="3528239" y="2041905"/>
            <a:ext cx="7554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that’s why you don’t have to define any argument.</a:t>
            </a:r>
            <a:endParaRPr lang="gu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6812ED-D3AF-4D04-B476-D5F3326F94E1}"/>
              </a:ext>
            </a:extLst>
          </p:cNvPr>
          <p:cNvSpPr txBox="1"/>
          <p:nvPr/>
        </p:nvSpPr>
        <p:spPr>
          <a:xfrm>
            <a:off x="5711085" y="4868569"/>
            <a:ext cx="289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C8DAC8-C682-4885-914C-292F0F29CE7A}"/>
              </a:ext>
            </a:extLst>
          </p:cNvPr>
          <p:cNvSpPr txBox="1"/>
          <p:nvPr/>
        </p:nvSpPr>
        <p:spPr>
          <a:xfrm>
            <a:off x="5711086" y="5225770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 :  5 </a:t>
            </a:r>
          </a:p>
          <a:p>
            <a:r>
              <a:rPr lang="en-US" b="1" dirty="0"/>
              <a:t>6</a:t>
            </a:r>
          </a:p>
          <a:p>
            <a:r>
              <a:rPr lang="en-US" b="1" dirty="0"/>
              <a:t>Total is: 11</a:t>
            </a:r>
          </a:p>
        </p:txBody>
      </p:sp>
    </p:spTree>
    <p:extLst>
      <p:ext uri="{BB962C8B-B14F-4D97-AF65-F5344CB8AC3E}">
        <p14:creationId xmlns:p14="http://schemas.microsoft.com/office/powerpoint/2010/main" val="106575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7" grpId="0"/>
      <p:bldP spid="8" grpId="0"/>
      <p:bldP spid="9" grpId="0"/>
      <p:bldP spid="9" grpId="1"/>
      <p:bldP spid="10" grpId="0"/>
      <p:bldP spid="10" grpId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01AD-3A34-4F75-812C-CBA02744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With Argument, No Return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108A7-DC13-4B8B-AB03-B9C73DCB1DC0}"/>
              </a:ext>
            </a:extLst>
          </p:cNvPr>
          <p:cNvSpPr txBox="1"/>
          <p:nvPr/>
        </p:nvSpPr>
        <p:spPr>
          <a:xfrm>
            <a:off x="533400" y="1118475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C1C31-0C4D-468E-8913-66EB231A9E7D}"/>
              </a:ext>
            </a:extLst>
          </p:cNvPr>
          <p:cNvSpPr txBox="1"/>
          <p:nvPr/>
        </p:nvSpPr>
        <p:spPr>
          <a:xfrm>
            <a:off x="3964492" y="1911639"/>
            <a:ext cx="690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return type so you have to write void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48137-048D-435E-B1D2-AD4CC95C7D82}"/>
              </a:ext>
            </a:extLst>
          </p:cNvPr>
          <p:cNvSpPr txBox="1"/>
          <p:nvPr/>
        </p:nvSpPr>
        <p:spPr>
          <a:xfrm>
            <a:off x="533399" y="1573014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00340A-170B-46F1-9164-86EDC48B2591}"/>
              </a:ext>
            </a:extLst>
          </p:cNvPr>
          <p:cNvSpPr txBox="1"/>
          <p:nvPr/>
        </p:nvSpPr>
        <p:spPr>
          <a:xfrm>
            <a:off x="983876" y="1572206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C4951-1AA8-4548-BB6B-8449E2CFCE9F}"/>
              </a:ext>
            </a:extLst>
          </p:cNvPr>
          <p:cNvSpPr txBox="1"/>
          <p:nvPr/>
        </p:nvSpPr>
        <p:spPr>
          <a:xfrm>
            <a:off x="1358152" y="1572206"/>
            <a:ext cx="131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(int ,int )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F083C-EBD2-4E2B-8719-97F9E40EF6D6}"/>
              </a:ext>
            </a:extLst>
          </p:cNvPr>
          <p:cNvSpPr txBox="1"/>
          <p:nvPr/>
        </p:nvSpPr>
        <p:spPr>
          <a:xfrm>
            <a:off x="3956311" y="1908996"/>
            <a:ext cx="554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argument, both are integer.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D0496-81B2-4825-A4A7-55ED1394F792}"/>
              </a:ext>
            </a:extLst>
          </p:cNvPr>
          <p:cNvSpPr txBox="1"/>
          <p:nvPr/>
        </p:nvSpPr>
        <p:spPr>
          <a:xfrm>
            <a:off x="3956311" y="1872694"/>
            <a:ext cx="643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Name of the function is add, so you have given name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FF096-2491-440E-8294-5CB3FF224E77}"/>
              </a:ext>
            </a:extLst>
          </p:cNvPr>
          <p:cNvSpPr txBox="1"/>
          <p:nvPr/>
        </p:nvSpPr>
        <p:spPr>
          <a:xfrm>
            <a:off x="533399" y="4183340"/>
            <a:ext cx="215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void</a:t>
            </a:r>
            <a:r>
              <a:rPr lang="en-US" dirty="0"/>
              <a:t> add </a:t>
            </a:r>
            <a:r>
              <a:rPr lang="en-US" b="1" dirty="0">
                <a:solidFill>
                  <a:schemeClr val="accent6"/>
                </a:solidFill>
              </a:rPr>
              <a:t>(int </a:t>
            </a:r>
            <a:r>
              <a:rPr lang="en-US" b="1" dirty="0" err="1">
                <a:solidFill>
                  <a:schemeClr val="accent6"/>
                </a:solidFill>
              </a:rPr>
              <a:t>a,int</a:t>
            </a:r>
            <a:r>
              <a:rPr lang="en-US" b="1" dirty="0">
                <a:solidFill>
                  <a:schemeClr val="accent6"/>
                </a:solidFill>
              </a:rPr>
              <a:t> 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26377-053B-49FE-91E9-776EE5416055}"/>
              </a:ext>
            </a:extLst>
          </p:cNvPr>
          <p:cNvSpPr txBox="1"/>
          <p:nvPr/>
        </p:nvSpPr>
        <p:spPr>
          <a:xfrm>
            <a:off x="533400" y="4504080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9C45B-1947-46E0-8E41-A0B87D95596E}"/>
              </a:ext>
            </a:extLst>
          </p:cNvPr>
          <p:cNvSpPr txBox="1"/>
          <p:nvPr/>
        </p:nvSpPr>
        <p:spPr>
          <a:xfrm>
            <a:off x="513229" y="559130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C96BB-98D3-4C1D-8C11-732C6FFF0387}"/>
              </a:ext>
            </a:extLst>
          </p:cNvPr>
          <p:cNvSpPr txBox="1"/>
          <p:nvPr/>
        </p:nvSpPr>
        <p:spPr>
          <a:xfrm>
            <a:off x="856129" y="483792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</a:t>
            </a:r>
            <a:r>
              <a:rPr lang="en-US" dirty="0" err="1" smtClean="0"/>
              <a:t>ans</a:t>
            </a:r>
            <a:r>
              <a:rPr lang="en-US" dirty="0" smtClean="0"/>
              <a:t>=</a:t>
            </a:r>
            <a:r>
              <a:rPr lang="en-US" dirty="0" err="1" smtClean="0"/>
              <a:t>a+b</a:t>
            </a:r>
            <a:r>
              <a:rPr lang="en-US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D231D-2C3C-479B-A7F4-DBA66BAA2286}"/>
              </a:ext>
            </a:extLst>
          </p:cNvPr>
          <p:cNvSpPr txBox="1"/>
          <p:nvPr/>
        </p:nvSpPr>
        <p:spPr>
          <a:xfrm>
            <a:off x="856129" y="5192547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nTotal</a:t>
            </a:r>
            <a:r>
              <a:rPr lang="en-US" dirty="0"/>
              <a:t> is: %d",</a:t>
            </a:r>
            <a:r>
              <a:rPr lang="en-US" dirty="0" err="1"/>
              <a:t>ans</a:t>
            </a:r>
            <a:r>
              <a:rPr lang="en-US" dirty="0"/>
              <a:t>);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C1A28-B625-4595-843C-238B37EA8453}"/>
              </a:ext>
            </a:extLst>
          </p:cNvPr>
          <p:cNvSpPr txBox="1"/>
          <p:nvPr/>
        </p:nvSpPr>
        <p:spPr>
          <a:xfrm>
            <a:off x="533400" y="198492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5D79F-9A02-407D-8C3B-BC00EB51C028}"/>
              </a:ext>
            </a:extLst>
          </p:cNvPr>
          <p:cNvSpPr txBox="1"/>
          <p:nvPr/>
        </p:nvSpPr>
        <p:spPr>
          <a:xfrm>
            <a:off x="515471" y="226227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725838-17E4-47A0-80F5-2534050FA709}"/>
              </a:ext>
            </a:extLst>
          </p:cNvPr>
          <p:cNvSpPr txBox="1"/>
          <p:nvPr/>
        </p:nvSpPr>
        <p:spPr>
          <a:xfrm>
            <a:off x="533400" y="3713424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5C9FB5-8BD1-4103-90B2-AD9FC1BFE675}"/>
              </a:ext>
            </a:extLst>
          </p:cNvPr>
          <p:cNvSpPr txBox="1"/>
          <p:nvPr/>
        </p:nvSpPr>
        <p:spPr>
          <a:xfrm>
            <a:off x="722779" y="343811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2CCE33-CFCD-40E3-A9D5-6FA8CD15C8D8}"/>
              </a:ext>
            </a:extLst>
          </p:cNvPr>
          <p:cNvSpPr txBox="1"/>
          <p:nvPr/>
        </p:nvSpPr>
        <p:spPr>
          <a:xfrm>
            <a:off x="3981083" y="1911559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argument so that’s why when you are calling the function you have to pass actual arguments.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F5A284-010A-4CC7-A344-EB924D53D632}"/>
              </a:ext>
            </a:extLst>
          </p:cNvPr>
          <p:cNvSpPr txBox="1"/>
          <p:nvPr/>
        </p:nvSpPr>
        <p:spPr>
          <a:xfrm>
            <a:off x="3996653" y="1906353"/>
            <a:ext cx="5553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2 argument so that’s why you have to define formal argument here while defining function. </a:t>
            </a:r>
          </a:p>
          <a:p>
            <a:pPr algn="just"/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algn="just"/>
            <a:r>
              <a:rPr lang="en-US" dirty="0"/>
              <a:t>Data type of them must be same as you had declared in Function Declaration part.</a:t>
            </a:r>
            <a:endParaRPr lang="gu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A5E184-C977-4540-A9E8-60BDA8BB5303}"/>
              </a:ext>
            </a:extLst>
          </p:cNvPr>
          <p:cNvSpPr txBox="1"/>
          <p:nvPr/>
        </p:nvSpPr>
        <p:spPr>
          <a:xfrm>
            <a:off x="5723964" y="4907205"/>
            <a:ext cx="289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3827F-9A27-4A3E-B93E-78F43B1FFEBF}"/>
              </a:ext>
            </a:extLst>
          </p:cNvPr>
          <p:cNvSpPr txBox="1"/>
          <p:nvPr/>
        </p:nvSpPr>
        <p:spPr>
          <a:xfrm>
            <a:off x="5723965" y="5264406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 :  5 </a:t>
            </a:r>
          </a:p>
          <a:p>
            <a:r>
              <a:rPr lang="en-US" b="1" dirty="0"/>
              <a:t>6</a:t>
            </a:r>
          </a:p>
          <a:p>
            <a:r>
              <a:rPr lang="en-US" b="1" dirty="0"/>
              <a:t>Total is: 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6C658-0CB6-4AC7-A7DC-F11F4B8B07C0}"/>
              </a:ext>
            </a:extLst>
          </p:cNvPr>
          <p:cNvSpPr txBox="1"/>
          <p:nvPr/>
        </p:nvSpPr>
        <p:spPr>
          <a:xfrm>
            <a:off x="722779" y="24570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 smtClean="0"/>
              <a:t>a,b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514792-BCB1-4B6D-9314-C55CAD26A2B9}"/>
              </a:ext>
            </a:extLst>
          </p:cNvPr>
          <p:cNvSpPr txBox="1"/>
          <p:nvPr/>
        </p:nvSpPr>
        <p:spPr>
          <a:xfrm>
            <a:off x="722779" y="2795008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a and b:");</a:t>
            </a:r>
          </a:p>
          <a:p>
            <a:r>
              <a:rPr lang="en-US" dirty="0" err="1"/>
              <a:t>scanf</a:t>
            </a:r>
            <a:r>
              <a:rPr lang="en-US" dirty="0"/>
              <a:t>("%d %</a:t>
            </a:r>
            <a:r>
              <a:rPr lang="en-US" dirty="0" err="1"/>
              <a:t>d",&amp;a,&amp;b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6463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7" grpId="0"/>
      <p:bldP spid="8" grpId="0"/>
      <p:bldP spid="9" grpId="0"/>
      <p:bldP spid="9" grpId="1"/>
      <p:bldP spid="10" grpId="0"/>
      <p:bldP spid="10" grpId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0" grpId="1"/>
      <p:bldP spid="21" grpId="0"/>
      <p:bldP spid="21" grpId="1"/>
      <p:bldP spid="22" grpId="0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2809-8A7D-47F0-8190-586A1A31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No Argument, With Return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DA027-BEB7-4D3C-BD0F-F862A9491E4C}"/>
              </a:ext>
            </a:extLst>
          </p:cNvPr>
          <p:cNvSpPr txBox="1"/>
          <p:nvPr/>
        </p:nvSpPr>
        <p:spPr>
          <a:xfrm>
            <a:off x="533400" y="1118475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24849-3323-4ADF-99AF-EC965AE06D0F}"/>
              </a:ext>
            </a:extLst>
          </p:cNvPr>
          <p:cNvSpPr txBox="1"/>
          <p:nvPr/>
        </p:nvSpPr>
        <p:spPr>
          <a:xfrm>
            <a:off x="3305727" y="1811490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return type so you can write int/char/float/double.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9CBB7-BAC6-43A8-B663-6ECD72E2C1B4}"/>
              </a:ext>
            </a:extLst>
          </p:cNvPr>
          <p:cNvSpPr txBox="1"/>
          <p:nvPr/>
        </p:nvSpPr>
        <p:spPr>
          <a:xfrm>
            <a:off x="533399" y="1573014"/>
            <a:ext cx="45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41147-348E-47F7-8F32-C6CF30A60A48}"/>
              </a:ext>
            </a:extLst>
          </p:cNvPr>
          <p:cNvSpPr txBox="1"/>
          <p:nvPr/>
        </p:nvSpPr>
        <p:spPr>
          <a:xfrm>
            <a:off x="847164" y="1572206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A9299-832E-4808-8FC5-F2C252C1081B}"/>
              </a:ext>
            </a:extLst>
          </p:cNvPr>
          <p:cNvSpPr txBox="1"/>
          <p:nvPr/>
        </p:nvSpPr>
        <p:spPr>
          <a:xfrm>
            <a:off x="1241612" y="1572206"/>
            <a:ext cx="54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 )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7D155-1E39-4B46-AE3B-C5ECAE3ECC7C}"/>
              </a:ext>
            </a:extLst>
          </p:cNvPr>
          <p:cNvSpPr txBox="1"/>
          <p:nvPr/>
        </p:nvSpPr>
        <p:spPr>
          <a:xfrm>
            <a:off x="3286731" y="1831137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you don’t have to mention it here.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FCFEC-9B0D-47FF-8E42-B0F2DE1EF551}"/>
              </a:ext>
            </a:extLst>
          </p:cNvPr>
          <p:cNvSpPr txBox="1"/>
          <p:nvPr/>
        </p:nvSpPr>
        <p:spPr>
          <a:xfrm>
            <a:off x="3315087" y="1876022"/>
            <a:ext cx="554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Name of the function is add, so you have given name add.</a:t>
            </a:r>
            <a:endParaRPr lang="gu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F4BB0-5307-4B3C-B98A-7E82348EA149}"/>
              </a:ext>
            </a:extLst>
          </p:cNvPr>
          <p:cNvSpPr txBox="1"/>
          <p:nvPr/>
        </p:nvSpPr>
        <p:spPr>
          <a:xfrm>
            <a:off x="513229" y="355002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</a:t>
            </a:r>
            <a:r>
              <a:rPr lang="en-US" dirty="0"/>
              <a:t> add </a:t>
            </a:r>
            <a:r>
              <a:rPr lang="en-US" b="1" dirty="0">
                <a:solidFill>
                  <a:schemeClr val="accent6"/>
                </a:solidFill>
              </a:rPr>
              <a:t>(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A2FAD-ADB7-42B5-8379-699C3B911706}"/>
              </a:ext>
            </a:extLst>
          </p:cNvPr>
          <p:cNvSpPr txBox="1"/>
          <p:nvPr/>
        </p:nvSpPr>
        <p:spPr>
          <a:xfrm>
            <a:off x="513229" y="387076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B67A4-70D0-4C02-A152-FBCD86E00E21}"/>
              </a:ext>
            </a:extLst>
          </p:cNvPr>
          <p:cNvSpPr txBox="1"/>
          <p:nvPr/>
        </p:nvSpPr>
        <p:spPr>
          <a:xfrm>
            <a:off x="504264" y="569427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3C109-9802-46F1-9EFC-1F89F7638330}"/>
              </a:ext>
            </a:extLst>
          </p:cNvPr>
          <p:cNvSpPr txBox="1"/>
          <p:nvPr/>
        </p:nvSpPr>
        <p:spPr>
          <a:xfrm>
            <a:off x="856129" y="415417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a,b,ans</a:t>
            </a:r>
            <a:r>
              <a:rPr lang="en-US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814AE-C23A-4B23-95A6-C4A9995582E3}"/>
              </a:ext>
            </a:extLst>
          </p:cNvPr>
          <p:cNvSpPr txBox="1"/>
          <p:nvPr/>
        </p:nvSpPr>
        <p:spPr>
          <a:xfrm>
            <a:off x="856129" y="4505524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a and b:");</a:t>
            </a:r>
          </a:p>
          <a:p>
            <a:r>
              <a:rPr lang="en-US" dirty="0" err="1"/>
              <a:t>scanf</a:t>
            </a:r>
            <a:r>
              <a:rPr lang="en-US" dirty="0"/>
              <a:t>("%d %</a:t>
            </a:r>
            <a:r>
              <a:rPr lang="en-US" dirty="0" err="1"/>
              <a:t>d",&amp;a,&amp;b</a:t>
            </a:r>
            <a:r>
              <a:rPr lang="en-US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77577-946F-47A1-AF7E-9EF5C3167850}"/>
              </a:ext>
            </a:extLst>
          </p:cNvPr>
          <p:cNvSpPr txBox="1"/>
          <p:nvPr/>
        </p:nvSpPr>
        <p:spPr>
          <a:xfrm>
            <a:off x="856129" y="508257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ans</a:t>
            </a:r>
            <a:r>
              <a:rPr lang="en-US" dirty="0"/>
              <a:t>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3C7422-D072-4880-B4BC-1EC4D135B5F2}"/>
              </a:ext>
            </a:extLst>
          </p:cNvPr>
          <p:cNvSpPr txBox="1"/>
          <p:nvPr/>
        </p:nvSpPr>
        <p:spPr>
          <a:xfrm>
            <a:off x="800099" y="2944066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nTotal</a:t>
            </a:r>
            <a:r>
              <a:rPr lang="en-US" dirty="0"/>
              <a:t> is: %</a:t>
            </a:r>
            <a:r>
              <a:rPr lang="en-US" dirty="0" err="1"/>
              <a:t>d",total</a:t>
            </a:r>
            <a:r>
              <a:rPr lang="en-US" dirty="0"/>
              <a:t>);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E288A9-A359-42A1-8FD8-30D4333924B2}"/>
              </a:ext>
            </a:extLst>
          </p:cNvPr>
          <p:cNvSpPr txBox="1"/>
          <p:nvPr/>
        </p:nvSpPr>
        <p:spPr>
          <a:xfrm>
            <a:off x="533400" y="198492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FC5BD6-148D-413B-A9B4-6A2A46FC77C2}"/>
              </a:ext>
            </a:extLst>
          </p:cNvPr>
          <p:cNvSpPr txBox="1"/>
          <p:nvPr/>
        </p:nvSpPr>
        <p:spPr>
          <a:xfrm>
            <a:off x="515471" y="226227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A0BDB-931C-47BC-8BE1-60AB96DCA9A3}"/>
              </a:ext>
            </a:extLst>
          </p:cNvPr>
          <p:cNvSpPr txBox="1"/>
          <p:nvPr/>
        </p:nvSpPr>
        <p:spPr>
          <a:xfrm>
            <a:off x="533399" y="3166327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CE3C4D-80A5-4EB4-B625-FFCAD50D4783}"/>
              </a:ext>
            </a:extLst>
          </p:cNvPr>
          <p:cNvSpPr txBox="1"/>
          <p:nvPr/>
        </p:nvSpPr>
        <p:spPr>
          <a:xfrm>
            <a:off x="805702" y="263356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total = add();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CC434-0218-44C7-928C-5D747C6AE756}"/>
              </a:ext>
            </a:extLst>
          </p:cNvPr>
          <p:cNvSpPr txBox="1"/>
          <p:nvPr/>
        </p:nvSpPr>
        <p:spPr>
          <a:xfrm>
            <a:off x="3305727" y="1845062"/>
            <a:ext cx="5544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that’s why when you are calling the function you don’t have to pass actual arguments.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F977-7CEB-4294-92BA-D8AE426BE3D8}"/>
              </a:ext>
            </a:extLst>
          </p:cNvPr>
          <p:cNvSpPr txBox="1"/>
          <p:nvPr/>
        </p:nvSpPr>
        <p:spPr>
          <a:xfrm>
            <a:off x="3315088" y="1850256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no argument so that’s why you don’t have to define any argument.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5C326-64E1-4536-BDEE-E39DD19D9F63}"/>
              </a:ext>
            </a:extLst>
          </p:cNvPr>
          <p:cNvSpPr txBox="1"/>
          <p:nvPr/>
        </p:nvSpPr>
        <p:spPr>
          <a:xfrm>
            <a:off x="5589487" y="5117818"/>
            <a:ext cx="289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B84C90-92EF-4AF7-8EC0-D2A7E2C4319B}"/>
              </a:ext>
            </a:extLst>
          </p:cNvPr>
          <p:cNvSpPr txBox="1"/>
          <p:nvPr/>
        </p:nvSpPr>
        <p:spPr>
          <a:xfrm>
            <a:off x="5611899" y="5417279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 :  5 </a:t>
            </a:r>
          </a:p>
          <a:p>
            <a:r>
              <a:rPr lang="en-US" b="1" dirty="0"/>
              <a:t>6</a:t>
            </a:r>
          </a:p>
          <a:p>
            <a:r>
              <a:rPr lang="en-US" b="1" dirty="0"/>
              <a:t>Total is: 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D1642-84D3-4CC8-A4D5-29FC8156D2FB}"/>
              </a:ext>
            </a:extLst>
          </p:cNvPr>
          <p:cNvSpPr txBox="1"/>
          <p:nvPr/>
        </p:nvSpPr>
        <p:spPr>
          <a:xfrm>
            <a:off x="847164" y="5351237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 err="1"/>
              <a:t>ans</a:t>
            </a:r>
            <a:r>
              <a:rPr lang="en-US" dirty="0"/>
              <a:t>;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62D3F2-8CE3-4EDD-9A7C-FAE53B376937}"/>
              </a:ext>
            </a:extLst>
          </p:cNvPr>
          <p:cNvSpPr txBox="1"/>
          <p:nvPr/>
        </p:nvSpPr>
        <p:spPr>
          <a:xfrm>
            <a:off x="3305727" y="1841847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returns an integer value with the help of </a:t>
            </a:r>
            <a:r>
              <a:rPr lang="en-US" b="1" dirty="0">
                <a:solidFill>
                  <a:schemeClr val="accent6"/>
                </a:solidFill>
              </a:rPr>
              <a:t>return</a:t>
            </a:r>
            <a:r>
              <a:rPr lang="en-US" dirty="0"/>
              <a:t> statement.</a:t>
            </a:r>
            <a:endParaRPr lang="gu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A63225-42EC-4D9A-8207-0BCBBE9A3228}"/>
              </a:ext>
            </a:extLst>
          </p:cNvPr>
          <p:cNvSpPr txBox="1"/>
          <p:nvPr/>
        </p:nvSpPr>
        <p:spPr>
          <a:xfrm>
            <a:off x="3305727" y="1844914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Here at the function call, you will receive the value in total variable which is return by the called function.</a:t>
            </a:r>
          </a:p>
        </p:txBody>
      </p:sp>
    </p:spTree>
    <p:extLst>
      <p:ext uri="{BB962C8B-B14F-4D97-AF65-F5344CB8AC3E}">
        <p14:creationId xmlns:p14="http://schemas.microsoft.com/office/powerpoint/2010/main" val="147781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7" grpId="0"/>
      <p:bldP spid="8" grpId="0"/>
      <p:bldP spid="9" grpId="0"/>
      <p:bldP spid="9" grpId="1"/>
      <p:bldP spid="10" grpId="0"/>
      <p:bldP spid="10" grpId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5" grpId="0"/>
      <p:bldP spid="26" grpId="0"/>
      <p:bldP spid="27" grpId="0"/>
      <p:bldP spid="2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BF32-0321-4D11-8BC0-D269A952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With Argument, With Return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188F5-F366-4D02-8BB2-73D9C6C80B85}"/>
              </a:ext>
            </a:extLst>
          </p:cNvPr>
          <p:cNvSpPr txBox="1"/>
          <p:nvPr/>
        </p:nvSpPr>
        <p:spPr>
          <a:xfrm>
            <a:off x="533400" y="1118475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B94BF-434D-4886-9416-BF56E4213D11}"/>
              </a:ext>
            </a:extLst>
          </p:cNvPr>
          <p:cNvSpPr txBox="1"/>
          <p:nvPr/>
        </p:nvSpPr>
        <p:spPr>
          <a:xfrm>
            <a:off x="3760062" y="1654417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return type so you can write int/char/float/double.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B1462-534A-42D9-AA8C-4A784E26A9A2}"/>
              </a:ext>
            </a:extLst>
          </p:cNvPr>
          <p:cNvSpPr txBox="1"/>
          <p:nvPr/>
        </p:nvSpPr>
        <p:spPr>
          <a:xfrm>
            <a:off x="533399" y="1573014"/>
            <a:ext cx="45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92B62-AF62-472C-AAE5-1C0CB4021B40}"/>
              </a:ext>
            </a:extLst>
          </p:cNvPr>
          <p:cNvSpPr txBox="1"/>
          <p:nvPr/>
        </p:nvSpPr>
        <p:spPr>
          <a:xfrm>
            <a:off x="847164" y="1572206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DD1E27-0A38-4EFE-ABE6-B6DCE28E1EE0}"/>
              </a:ext>
            </a:extLst>
          </p:cNvPr>
          <p:cNvSpPr txBox="1"/>
          <p:nvPr/>
        </p:nvSpPr>
        <p:spPr>
          <a:xfrm>
            <a:off x="1241612" y="1572206"/>
            <a:ext cx="109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 err="1">
                <a:solidFill>
                  <a:schemeClr val="accent6"/>
                </a:solidFill>
              </a:rPr>
              <a:t>int,int</a:t>
            </a:r>
            <a:r>
              <a:rPr lang="en-US" b="1" dirty="0">
                <a:solidFill>
                  <a:schemeClr val="accent6"/>
                </a:solidFill>
              </a:rPr>
              <a:t> )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3F22E-B75F-4144-A524-CD8D1265D5F6}"/>
              </a:ext>
            </a:extLst>
          </p:cNvPr>
          <p:cNvSpPr txBox="1"/>
          <p:nvPr/>
        </p:nvSpPr>
        <p:spPr>
          <a:xfrm>
            <a:off x="3791244" y="1669005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argument so you have to mention it. (int/char/double/float as per the requirement)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9F15F-74C8-419C-A14D-ACC170495934}"/>
              </a:ext>
            </a:extLst>
          </p:cNvPr>
          <p:cNvSpPr txBox="1"/>
          <p:nvPr/>
        </p:nvSpPr>
        <p:spPr>
          <a:xfrm>
            <a:off x="3760061" y="1649738"/>
            <a:ext cx="554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Name of the function is add, so you have given name add</a:t>
            </a:r>
            <a:r>
              <a:rPr lang="en-US" dirty="0">
                <a:latin typeface="Lohit Gujarati" panose="020B0600000000000000" pitchFamily="34" charset="0"/>
                <a:cs typeface="Lohit Gujarati" panose="020B0600000000000000" pitchFamily="34" charset="0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578EB6-FCA5-4AEB-88D8-5EB5944890BD}"/>
              </a:ext>
            </a:extLst>
          </p:cNvPr>
          <p:cNvSpPr txBox="1"/>
          <p:nvPr/>
        </p:nvSpPr>
        <p:spPr>
          <a:xfrm>
            <a:off x="515471" y="4381674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int</a:t>
            </a:r>
            <a:r>
              <a:rPr lang="en-US" dirty="0"/>
              <a:t> add </a:t>
            </a:r>
            <a:r>
              <a:rPr lang="en-US" b="1" dirty="0">
                <a:solidFill>
                  <a:schemeClr val="accent6"/>
                </a:solidFill>
              </a:rPr>
              <a:t>(int a, int 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5FA1D-F99B-462E-876B-48B9D505A87D}"/>
              </a:ext>
            </a:extLst>
          </p:cNvPr>
          <p:cNvSpPr txBox="1"/>
          <p:nvPr/>
        </p:nvSpPr>
        <p:spPr>
          <a:xfrm>
            <a:off x="515471" y="4702414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D8515F-EF46-4240-8478-804B7D40742C}"/>
              </a:ext>
            </a:extLst>
          </p:cNvPr>
          <p:cNvSpPr txBox="1"/>
          <p:nvPr/>
        </p:nvSpPr>
        <p:spPr>
          <a:xfrm>
            <a:off x="533399" y="5682803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82EFDC-C9F4-43D3-9E8D-BB961AE0D3BC}"/>
              </a:ext>
            </a:extLst>
          </p:cNvPr>
          <p:cNvSpPr txBox="1"/>
          <p:nvPr/>
        </p:nvSpPr>
        <p:spPr>
          <a:xfrm>
            <a:off x="890866" y="247455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a,b,total</a:t>
            </a:r>
            <a:r>
              <a:rPr lang="en-US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A60BC-0912-4B60-8A43-B88ED09D451C}"/>
              </a:ext>
            </a:extLst>
          </p:cNvPr>
          <p:cNvSpPr txBox="1"/>
          <p:nvPr/>
        </p:nvSpPr>
        <p:spPr>
          <a:xfrm>
            <a:off x="876299" y="2813028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a and b:");</a:t>
            </a:r>
          </a:p>
          <a:p>
            <a:r>
              <a:rPr lang="en-US" dirty="0" err="1"/>
              <a:t>scanf</a:t>
            </a:r>
            <a:r>
              <a:rPr lang="en-US" dirty="0"/>
              <a:t>("%d %</a:t>
            </a:r>
            <a:r>
              <a:rPr lang="en-US" dirty="0" err="1"/>
              <a:t>d",&amp;a,&amp;b</a:t>
            </a:r>
            <a:r>
              <a:rPr lang="en-US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77ADC7-335A-4216-8EFE-F06084F83CE4}"/>
              </a:ext>
            </a:extLst>
          </p:cNvPr>
          <p:cNvSpPr txBox="1"/>
          <p:nvPr/>
        </p:nvSpPr>
        <p:spPr>
          <a:xfrm>
            <a:off x="856129" y="508257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ans</a:t>
            </a:r>
            <a:r>
              <a:rPr lang="en-US" dirty="0"/>
              <a:t>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14B042-B4B9-4EB8-A235-F668A3E46234}"/>
              </a:ext>
            </a:extLst>
          </p:cNvPr>
          <p:cNvSpPr txBox="1"/>
          <p:nvPr/>
        </p:nvSpPr>
        <p:spPr>
          <a:xfrm>
            <a:off x="876299" y="3762861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nTotal</a:t>
            </a:r>
            <a:r>
              <a:rPr lang="en-US" dirty="0"/>
              <a:t> is: %</a:t>
            </a:r>
            <a:r>
              <a:rPr lang="en-US" dirty="0" err="1"/>
              <a:t>d",total</a:t>
            </a:r>
            <a:r>
              <a:rPr lang="en-US" dirty="0"/>
              <a:t>);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A43F0-4E13-4DB3-A5E8-6458F3AE89B0}"/>
              </a:ext>
            </a:extLst>
          </p:cNvPr>
          <p:cNvSpPr txBox="1"/>
          <p:nvPr/>
        </p:nvSpPr>
        <p:spPr>
          <a:xfrm>
            <a:off x="533400" y="198492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8243B-F952-4AC9-B312-FE283DE049ED}"/>
              </a:ext>
            </a:extLst>
          </p:cNvPr>
          <p:cNvSpPr txBox="1"/>
          <p:nvPr/>
        </p:nvSpPr>
        <p:spPr>
          <a:xfrm>
            <a:off x="515471" y="2262278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127DE-7E06-47D4-AD4E-F0AD651BE7E3}"/>
              </a:ext>
            </a:extLst>
          </p:cNvPr>
          <p:cNvSpPr txBox="1"/>
          <p:nvPr/>
        </p:nvSpPr>
        <p:spPr>
          <a:xfrm>
            <a:off x="515471" y="406476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942E34-7DF5-496D-86A8-DCE38E307A42}"/>
              </a:ext>
            </a:extLst>
          </p:cNvPr>
          <p:cNvSpPr txBox="1"/>
          <p:nvPr/>
        </p:nvSpPr>
        <p:spPr>
          <a:xfrm>
            <a:off x="890866" y="343794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= add(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C519D-0B08-4DF8-82B2-FDC0AF718546}"/>
              </a:ext>
            </a:extLst>
          </p:cNvPr>
          <p:cNvSpPr txBox="1"/>
          <p:nvPr/>
        </p:nvSpPr>
        <p:spPr>
          <a:xfrm>
            <a:off x="3775652" y="1697971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argument so that’s why when you are calling the function you have to pass actual arguments.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91CF0-B7A4-45EC-9C01-9BFE466F1E71}"/>
              </a:ext>
            </a:extLst>
          </p:cNvPr>
          <p:cNvSpPr txBox="1"/>
          <p:nvPr/>
        </p:nvSpPr>
        <p:spPr>
          <a:xfrm>
            <a:off x="3775652" y="1697061"/>
            <a:ext cx="5544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has argument and return type so that’s why you have to define same argument and return type which are defined in declaration</a:t>
            </a:r>
            <a:r>
              <a:rPr lang="en-US" dirty="0">
                <a:latin typeface="Lohit Gujarati" panose="020B0600000000000000" pitchFamily="34" charset="0"/>
                <a:cs typeface="Lohit Gujarati" panose="020B0600000000000000" pitchFamily="34" charset="0"/>
              </a:rPr>
              <a:t>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062DF-CD7A-423C-9192-1B459AE824D5}"/>
              </a:ext>
            </a:extLst>
          </p:cNvPr>
          <p:cNvSpPr txBox="1"/>
          <p:nvPr/>
        </p:nvSpPr>
        <p:spPr>
          <a:xfrm>
            <a:off x="5589487" y="5117818"/>
            <a:ext cx="289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27BCC8-5F88-4F66-BB45-302AB7799F66}"/>
              </a:ext>
            </a:extLst>
          </p:cNvPr>
          <p:cNvSpPr txBox="1"/>
          <p:nvPr/>
        </p:nvSpPr>
        <p:spPr>
          <a:xfrm>
            <a:off x="5611899" y="5417279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 :  5 </a:t>
            </a:r>
          </a:p>
          <a:p>
            <a:r>
              <a:rPr lang="en-US" b="1" dirty="0"/>
              <a:t>6</a:t>
            </a:r>
          </a:p>
          <a:p>
            <a:r>
              <a:rPr lang="en-US" b="1" dirty="0"/>
              <a:t>Total is: 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9AB203-665B-492F-A48C-1E82C20091B5}"/>
              </a:ext>
            </a:extLst>
          </p:cNvPr>
          <p:cNvSpPr txBox="1"/>
          <p:nvPr/>
        </p:nvSpPr>
        <p:spPr>
          <a:xfrm>
            <a:off x="847164" y="5351237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 err="1"/>
              <a:t>ans</a:t>
            </a:r>
            <a:r>
              <a:rPr lang="en-US" dirty="0"/>
              <a:t>;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C48206-7CF0-4AC3-89A6-75184B39EB45}"/>
              </a:ext>
            </a:extLst>
          </p:cNvPr>
          <p:cNvSpPr txBox="1"/>
          <p:nvPr/>
        </p:nvSpPr>
        <p:spPr>
          <a:xfrm>
            <a:off x="3760061" y="1672579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Function returns an integer value with the help of </a:t>
            </a:r>
            <a:r>
              <a:rPr lang="en-US" b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statement.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F43635-F846-469C-BE36-540BCAA5725A}"/>
              </a:ext>
            </a:extLst>
          </p:cNvPr>
          <p:cNvSpPr txBox="1"/>
          <p:nvPr/>
        </p:nvSpPr>
        <p:spPr>
          <a:xfrm>
            <a:off x="3791244" y="1672579"/>
            <a:ext cx="554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Here at the function call, you will receive the value in total variable which is return by the called function.</a:t>
            </a:r>
          </a:p>
        </p:txBody>
      </p:sp>
    </p:spTree>
    <p:extLst>
      <p:ext uri="{BB962C8B-B14F-4D97-AF65-F5344CB8AC3E}">
        <p14:creationId xmlns:p14="http://schemas.microsoft.com/office/powerpoint/2010/main" val="284157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7" grpId="0"/>
      <p:bldP spid="8" grpId="0"/>
      <p:bldP spid="9" grpId="0"/>
      <p:bldP spid="9" grpId="1"/>
      <p:bldP spid="10" grpId="0"/>
      <p:bldP spid="10" grpId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5" grpId="0"/>
      <p:bldP spid="26" grpId="0"/>
      <p:bldP spid="27" grpId="0"/>
      <p:bldP spid="27" grpId="1"/>
      <p:bldP spid="28" grpId="0"/>
      <p:bldP spid="2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Call By Value &amp; Call By Reference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</a:t>
            </a:r>
          </a:p>
        </p:txBody>
      </p:sp>
    </p:spTree>
    <p:extLst>
      <p:ext uri="{BB962C8B-B14F-4D97-AF65-F5344CB8AC3E}">
        <p14:creationId xmlns:p14="http://schemas.microsoft.com/office/powerpoint/2010/main" val="422270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4700-A74B-4031-BE2F-E23E24DE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Pass Technique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9D83-208E-4A8C-947E-375EFAA05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Parameters/Arguments can be passed by calling the function.</a:t>
            </a:r>
          </a:p>
          <a:p>
            <a:r>
              <a:rPr lang="en-IN" dirty="0"/>
              <a:t>There are mainly 2 techniques to pass the parameters to called function;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Call By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Call By Reference</a:t>
            </a:r>
            <a:endParaRPr lang="en-IN" b="1" dirty="0">
              <a:solidFill>
                <a:schemeClr val="accent6"/>
              </a:solidFill>
            </a:endParaRPr>
          </a:p>
          <a:p>
            <a:endParaRPr lang="en-IN" dirty="0"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7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5529-BE4C-4734-87C0-D6251C1B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Call By Value and Call By Reference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DC5FF-45D2-418B-9965-46FBEABAFAA5}"/>
              </a:ext>
            </a:extLst>
          </p:cNvPr>
          <p:cNvSpPr txBox="1"/>
          <p:nvPr/>
        </p:nvSpPr>
        <p:spPr>
          <a:xfrm>
            <a:off x="878006" y="1074761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33E2F-4B78-4827-94EE-FDA0E0153B2E}"/>
              </a:ext>
            </a:extLst>
          </p:cNvPr>
          <p:cNvSpPr txBox="1"/>
          <p:nvPr/>
        </p:nvSpPr>
        <p:spPr>
          <a:xfrm>
            <a:off x="878006" y="1424385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</a:t>
            </a:r>
            <a:r>
              <a:rPr lang="en-US" dirty="0" err="1"/>
              <a:t>int,int</a:t>
            </a:r>
            <a:r>
              <a:rPr lang="en-US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351B0-A2A6-47CC-A9FB-73118DBCDEAF}"/>
              </a:ext>
            </a:extLst>
          </p:cNvPr>
          <p:cNvSpPr txBox="1"/>
          <p:nvPr/>
        </p:nvSpPr>
        <p:spPr>
          <a:xfrm>
            <a:off x="878006" y="1803144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D8B03-2648-4B86-B61E-FBBABCC355F0}"/>
              </a:ext>
            </a:extLst>
          </p:cNvPr>
          <p:cNvSpPr txBox="1"/>
          <p:nvPr/>
        </p:nvSpPr>
        <p:spPr>
          <a:xfrm>
            <a:off x="1068505" y="2390833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a=45,b=50;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D17E2-B42D-4427-A1D5-181B85E75235}"/>
              </a:ext>
            </a:extLst>
          </p:cNvPr>
          <p:cNvSpPr txBox="1"/>
          <p:nvPr/>
        </p:nvSpPr>
        <p:spPr>
          <a:xfrm>
            <a:off x="878006" y="2133685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3F7FA-35DE-482B-9708-1897BC34EA0E}"/>
              </a:ext>
            </a:extLst>
          </p:cNvPr>
          <p:cNvSpPr txBox="1"/>
          <p:nvPr/>
        </p:nvSpPr>
        <p:spPr>
          <a:xfrm>
            <a:off x="1041612" y="2689035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nBefore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F3080-9887-40E7-B53F-32F8D65B951E}"/>
              </a:ext>
            </a:extLst>
          </p:cNvPr>
          <p:cNvSpPr txBox="1"/>
          <p:nvPr/>
        </p:nvSpPr>
        <p:spPr>
          <a:xfrm>
            <a:off x="1041612" y="3000433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AD594-5D35-4534-A1D3-EA6493A1E9C1}"/>
              </a:ext>
            </a:extLst>
          </p:cNvPr>
          <p:cNvSpPr txBox="1"/>
          <p:nvPr/>
        </p:nvSpPr>
        <p:spPr>
          <a:xfrm>
            <a:off x="1041612" y="328437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nAfter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3F150-985E-4E27-B60C-78C641A7D069}"/>
              </a:ext>
            </a:extLst>
          </p:cNvPr>
          <p:cNvSpPr txBox="1"/>
          <p:nvPr/>
        </p:nvSpPr>
        <p:spPr>
          <a:xfrm>
            <a:off x="878006" y="360792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F11C4C-77CD-4409-931F-1DA7F5D50B8B}"/>
              </a:ext>
            </a:extLst>
          </p:cNvPr>
          <p:cNvSpPr txBox="1"/>
          <p:nvPr/>
        </p:nvSpPr>
        <p:spPr>
          <a:xfrm>
            <a:off x="878006" y="3977252"/>
            <a:ext cx="211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swap(int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246FF-DEEF-4660-85F5-530757461DC4}"/>
              </a:ext>
            </a:extLst>
          </p:cNvPr>
          <p:cNvSpPr txBox="1"/>
          <p:nvPr/>
        </p:nvSpPr>
        <p:spPr>
          <a:xfrm>
            <a:off x="878006" y="4312466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19BBC-A968-43BE-A456-7C86763DCE19}"/>
              </a:ext>
            </a:extLst>
          </p:cNvPr>
          <p:cNvSpPr txBox="1"/>
          <p:nvPr/>
        </p:nvSpPr>
        <p:spPr>
          <a:xfrm>
            <a:off x="878006" y="5734636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63A6C-4444-48D7-8995-25049035FAFE}"/>
              </a:ext>
            </a:extLst>
          </p:cNvPr>
          <p:cNvSpPr txBox="1"/>
          <p:nvPr/>
        </p:nvSpPr>
        <p:spPr>
          <a:xfrm>
            <a:off x="1068505" y="4554650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temp;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5905A-1BFC-48E4-BFCF-80007C28A4D5}"/>
              </a:ext>
            </a:extLst>
          </p:cNvPr>
          <p:cNvSpPr txBox="1"/>
          <p:nvPr/>
        </p:nvSpPr>
        <p:spPr>
          <a:xfrm>
            <a:off x="1068505" y="4817162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temp=a;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78B98-7EC0-40FD-8C1C-EF51B203AFD1}"/>
              </a:ext>
            </a:extLst>
          </p:cNvPr>
          <p:cNvSpPr txBox="1"/>
          <p:nvPr/>
        </p:nvSpPr>
        <p:spPr>
          <a:xfrm>
            <a:off x="1068505" y="5075100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a=b;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2B82F-3DAC-4CDC-BE40-F17EEDD04A3A}"/>
              </a:ext>
            </a:extLst>
          </p:cNvPr>
          <p:cNvSpPr txBox="1"/>
          <p:nvPr/>
        </p:nvSpPr>
        <p:spPr>
          <a:xfrm>
            <a:off x="1068505" y="5353636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b=temp;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C7B761-38D1-4C85-A867-E4AF87494586}"/>
              </a:ext>
            </a:extLst>
          </p:cNvPr>
          <p:cNvSpPr txBox="1"/>
          <p:nvPr/>
        </p:nvSpPr>
        <p:spPr>
          <a:xfrm>
            <a:off x="4992807" y="104052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02DC1D-6C30-487C-B2B8-CD67C020E174}"/>
              </a:ext>
            </a:extLst>
          </p:cNvPr>
          <p:cNvSpPr txBox="1"/>
          <p:nvPr/>
        </p:nvSpPr>
        <p:spPr>
          <a:xfrm>
            <a:off x="4992806" y="1361135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Swapping Value of a=45 and b=50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0D077-FAE3-47BF-89E8-111E66978AE4}"/>
              </a:ext>
            </a:extLst>
          </p:cNvPr>
          <p:cNvSpPr txBox="1"/>
          <p:nvPr/>
        </p:nvSpPr>
        <p:spPr>
          <a:xfrm>
            <a:off x="4623012" y="398892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you will receive a=45, b=50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1DED44-163D-4682-8B2C-1CA76B040A2C}"/>
              </a:ext>
            </a:extLst>
          </p:cNvPr>
          <p:cNvSpPr txBox="1"/>
          <p:nvPr/>
        </p:nvSpPr>
        <p:spPr>
          <a:xfrm>
            <a:off x="4623012" y="4566318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 value of : a=45, b=50, temp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DA5C1A-EA1A-4BFD-B4F8-7DCE56478E6C}"/>
              </a:ext>
            </a:extLst>
          </p:cNvPr>
          <p:cNvSpPr txBox="1"/>
          <p:nvPr/>
        </p:nvSpPr>
        <p:spPr>
          <a:xfrm>
            <a:off x="4623012" y="4807841"/>
            <a:ext cx="44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 value of :  temp=45,a=45, b=50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4F552A-3B7F-4D7C-A2A9-648DDCD35379}"/>
              </a:ext>
            </a:extLst>
          </p:cNvPr>
          <p:cNvSpPr txBox="1"/>
          <p:nvPr/>
        </p:nvSpPr>
        <p:spPr>
          <a:xfrm>
            <a:off x="4623012" y="5080934"/>
            <a:ext cx="44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 value of : a=50, b=50, temp=45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D33EA-04F6-4781-B104-4666C2E5D12C}"/>
              </a:ext>
            </a:extLst>
          </p:cNvPr>
          <p:cNvSpPr txBox="1"/>
          <p:nvPr/>
        </p:nvSpPr>
        <p:spPr>
          <a:xfrm>
            <a:off x="4623012" y="5365304"/>
            <a:ext cx="440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 value of : b=45, temp=45, a=50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CA1BB6-F954-4395-964C-C42A37BBBD23}"/>
              </a:ext>
            </a:extLst>
          </p:cNvPr>
          <p:cNvSpPr txBox="1"/>
          <p:nvPr/>
        </p:nvSpPr>
        <p:spPr>
          <a:xfrm>
            <a:off x="4992807" y="1715864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Swapping Value of a=45 and b=50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0C175A-8737-450A-95F4-781C84EED81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158" y="3056851"/>
            <a:ext cx="1420907" cy="14831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798D958-F88E-43CC-8C8F-73446697F890}"/>
              </a:ext>
            </a:extLst>
          </p:cNvPr>
          <p:cNvSpPr txBox="1"/>
          <p:nvPr/>
        </p:nvSpPr>
        <p:spPr>
          <a:xfrm>
            <a:off x="7012106" y="2266001"/>
            <a:ext cx="217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/>
                </a:solidFill>
              </a:rPr>
              <a:t>HOW ?????</a:t>
            </a:r>
          </a:p>
        </p:txBody>
      </p:sp>
    </p:spTree>
    <p:extLst>
      <p:ext uri="{BB962C8B-B14F-4D97-AF65-F5344CB8AC3E}">
        <p14:creationId xmlns:p14="http://schemas.microsoft.com/office/powerpoint/2010/main" val="128910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6A6C-2279-4CF0-81C2-0CA02E6B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ED648-191F-46FB-81D3-736AE462989C}"/>
              </a:ext>
            </a:extLst>
          </p:cNvPr>
          <p:cNvSpPr txBox="1"/>
          <p:nvPr/>
        </p:nvSpPr>
        <p:spPr>
          <a:xfrm>
            <a:off x="914399" y="1074762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EFDFB-985C-4DE8-8503-8BEA1B0CA3CC}"/>
              </a:ext>
            </a:extLst>
          </p:cNvPr>
          <p:cNvSpPr txBox="1"/>
          <p:nvPr/>
        </p:nvSpPr>
        <p:spPr>
          <a:xfrm>
            <a:off x="914399" y="1424386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</a:t>
            </a:r>
            <a:r>
              <a:rPr lang="en-US" dirty="0" err="1"/>
              <a:t>int,int</a:t>
            </a:r>
            <a:r>
              <a:rPr lang="en-US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F4663-66DF-440F-9685-647C6829DD10}"/>
              </a:ext>
            </a:extLst>
          </p:cNvPr>
          <p:cNvSpPr txBox="1"/>
          <p:nvPr/>
        </p:nvSpPr>
        <p:spPr>
          <a:xfrm>
            <a:off x="914399" y="1803145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2F352-F704-42BE-913F-C350D5E76F70}"/>
              </a:ext>
            </a:extLst>
          </p:cNvPr>
          <p:cNvSpPr txBox="1"/>
          <p:nvPr/>
        </p:nvSpPr>
        <p:spPr>
          <a:xfrm>
            <a:off x="1104898" y="2390834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a=45,b=50;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E36E8-5F30-4DDA-917A-8E5D4509F3A4}"/>
              </a:ext>
            </a:extLst>
          </p:cNvPr>
          <p:cNvSpPr txBox="1"/>
          <p:nvPr/>
        </p:nvSpPr>
        <p:spPr>
          <a:xfrm>
            <a:off x="914399" y="2133686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0D5DD-DDA1-4C08-A03D-6ABA76991F22}"/>
              </a:ext>
            </a:extLst>
          </p:cNvPr>
          <p:cNvSpPr txBox="1"/>
          <p:nvPr/>
        </p:nvSpPr>
        <p:spPr>
          <a:xfrm>
            <a:off x="1078005" y="2689036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nBefore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0FB09-C39F-4A03-96C3-4D9C5E0D5279}"/>
              </a:ext>
            </a:extLst>
          </p:cNvPr>
          <p:cNvSpPr txBox="1"/>
          <p:nvPr/>
        </p:nvSpPr>
        <p:spPr>
          <a:xfrm>
            <a:off x="1078005" y="3000434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BBA96-1FE7-4016-AC08-D22376C44D62}"/>
              </a:ext>
            </a:extLst>
          </p:cNvPr>
          <p:cNvSpPr txBox="1"/>
          <p:nvPr/>
        </p:nvSpPr>
        <p:spPr>
          <a:xfrm>
            <a:off x="1078005" y="3284375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nAfter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A670F-06F0-4BCA-BAA0-9B9C67864A99}"/>
              </a:ext>
            </a:extLst>
          </p:cNvPr>
          <p:cNvSpPr txBox="1"/>
          <p:nvPr/>
        </p:nvSpPr>
        <p:spPr>
          <a:xfrm>
            <a:off x="914399" y="3607921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B3AAD-7C80-4FB2-A3AB-D656C33795D7}"/>
              </a:ext>
            </a:extLst>
          </p:cNvPr>
          <p:cNvSpPr txBox="1"/>
          <p:nvPr/>
        </p:nvSpPr>
        <p:spPr>
          <a:xfrm>
            <a:off x="914399" y="3977253"/>
            <a:ext cx="211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swap(int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D1F65-85D6-4711-9085-155972F39060}"/>
              </a:ext>
            </a:extLst>
          </p:cNvPr>
          <p:cNvSpPr txBox="1"/>
          <p:nvPr/>
        </p:nvSpPr>
        <p:spPr>
          <a:xfrm>
            <a:off x="914399" y="4312467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0E2B3-1360-4936-985E-0A4AF9CD101A}"/>
              </a:ext>
            </a:extLst>
          </p:cNvPr>
          <p:cNvSpPr txBox="1"/>
          <p:nvPr/>
        </p:nvSpPr>
        <p:spPr>
          <a:xfrm>
            <a:off x="914399" y="5734637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DD515-74B2-465A-B872-2A429DE51458}"/>
              </a:ext>
            </a:extLst>
          </p:cNvPr>
          <p:cNvSpPr txBox="1"/>
          <p:nvPr/>
        </p:nvSpPr>
        <p:spPr>
          <a:xfrm>
            <a:off x="1104898" y="4554651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temp;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983749-7925-4B97-9FF2-0114EE519AE2}"/>
              </a:ext>
            </a:extLst>
          </p:cNvPr>
          <p:cNvSpPr txBox="1"/>
          <p:nvPr/>
        </p:nvSpPr>
        <p:spPr>
          <a:xfrm>
            <a:off x="1104898" y="4817163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temp=a;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823213-B597-4ABE-AC90-D4FA66731BFE}"/>
              </a:ext>
            </a:extLst>
          </p:cNvPr>
          <p:cNvSpPr txBox="1"/>
          <p:nvPr/>
        </p:nvSpPr>
        <p:spPr>
          <a:xfrm>
            <a:off x="1104898" y="5075101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a=b;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F7BB54-A059-4C05-A9A6-7F1EFFE9246F}"/>
              </a:ext>
            </a:extLst>
          </p:cNvPr>
          <p:cNvSpPr txBox="1"/>
          <p:nvPr/>
        </p:nvSpPr>
        <p:spPr>
          <a:xfrm>
            <a:off x="1104898" y="5353637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b=temp;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87F43D-60D2-4B37-A395-48FFB5314778}"/>
              </a:ext>
            </a:extLst>
          </p:cNvPr>
          <p:cNvSpPr txBox="1"/>
          <p:nvPr/>
        </p:nvSpPr>
        <p:spPr>
          <a:xfrm>
            <a:off x="5029200" y="104052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F86F3-DA56-4581-AA84-D969E732BDCA}"/>
              </a:ext>
            </a:extLst>
          </p:cNvPr>
          <p:cNvSpPr txBox="1"/>
          <p:nvPr/>
        </p:nvSpPr>
        <p:spPr>
          <a:xfrm>
            <a:off x="5029199" y="1361136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Swapping Value of a=45 and b=50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05B0AF-97E3-4E2B-BB13-C5186C2C48A8}"/>
              </a:ext>
            </a:extLst>
          </p:cNvPr>
          <p:cNvSpPr txBox="1"/>
          <p:nvPr/>
        </p:nvSpPr>
        <p:spPr>
          <a:xfrm>
            <a:off x="5029200" y="1715865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Swapping Value of a=45 and b=50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2779C0-2A91-475F-81BE-BFEB0E9A50C6}"/>
              </a:ext>
            </a:extLst>
          </p:cNvPr>
          <p:cNvSpPr/>
          <p:nvPr/>
        </p:nvSpPr>
        <p:spPr>
          <a:xfrm>
            <a:off x="3842496" y="360994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510DAF-FA0D-4A92-8BF3-09895C017498}"/>
              </a:ext>
            </a:extLst>
          </p:cNvPr>
          <p:cNvSpPr/>
          <p:nvPr/>
        </p:nvSpPr>
        <p:spPr>
          <a:xfrm>
            <a:off x="4998942" y="3624186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58B3C9-EAC2-4142-9536-8A94BFA23924}"/>
              </a:ext>
            </a:extLst>
          </p:cNvPr>
          <p:cNvSpPr/>
          <p:nvPr/>
        </p:nvSpPr>
        <p:spPr>
          <a:xfrm>
            <a:off x="3846977" y="4033930"/>
            <a:ext cx="833719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D1678-217F-4F7E-9DE1-FE7459B0ECEF}"/>
              </a:ext>
            </a:extLst>
          </p:cNvPr>
          <p:cNvSpPr/>
          <p:nvPr/>
        </p:nvSpPr>
        <p:spPr>
          <a:xfrm>
            <a:off x="4989979" y="4027707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7A2D0F-F196-4CA4-9E50-1F598687446F}"/>
              </a:ext>
            </a:extLst>
          </p:cNvPr>
          <p:cNvSpPr/>
          <p:nvPr/>
        </p:nvSpPr>
        <p:spPr>
          <a:xfrm>
            <a:off x="3842496" y="4558770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5F609C-AB29-41C2-85B4-321497D0D343}"/>
              </a:ext>
            </a:extLst>
          </p:cNvPr>
          <p:cNvSpPr/>
          <p:nvPr/>
        </p:nvSpPr>
        <p:spPr>
          <a:xfrm>
            <a:off x="4895848" y="4038908"/>
            <a:ext cx="1134035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4A256-28D3-40B1-889D-F84191EA655D}"/>
              </a:ext>
            </a:extLst>
          </p:cNvPr>
          <p:cNvSpPr/>
          <p:nvPr/>
        </p:nvSpPr>
        <p:spPr>
          <a:xfrm>
            <a:off x="5143500" y="401275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47D38-2EF6-427E-BB9B-0E25EE0A2145}"/>
              </a:ext>
            </a:extLst>
          </p:cNvPr>
          <p:cNvSpPr/>
          <p:nvPr/>
        </p:nvSpPr>
        <p:spPr>
          <a:xfrm>
            <a:off x="6148669" y="401733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B703BA-D7B6-40F5-AD8A-ABFD214461E3}"/>
              </a:ext>
            </a:extLst>
          </p:cNvPr>
          <p:cNvSpPr/>
          <p:nvPr/>
        </p:nvSpPr>
        <p:spPr>
          <a:xfrm>
            <a:off x="5935755" y="4046278"/>
            <a:ext cx="1134035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CA332-B407-4328-B58B-874F2373B413}"/>
              </a:ext>
            </a:extLst>
          </p:cNvPr>
          <p:cNvSpPr/>
          <p:nvPr/>
        </p:nvSpPr>
        <p:spPr>
          <a:xfrm>
            <a:off x="3923179" y="4046278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A5EA05-E0CF-4FEA-A12E-3686C92B0BF8}"/>
              </a:ext>
            </a:extLst>
          </p:cNvPr>
          <p:cNvSpPr/>
          <p:nvPr/>
        </p:nvSpPr>
        <p:spPr>
          <a:xfrm>
            <a:off x="4927786" y="4046278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24A2B6-2078-49FE-8259-5BEE1A835235}"/>
              </a:ext>
            </a:extLst>
          </p:cNvPr>
          <p:cNvSpPr/>
          <p:nvPr/>
        </p:nvSpPr>
        <p:spPr>
          <a:xfrm>
            <a:off x="3845884" y="4021582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C300A7-B1B4-45FF-88C5-287A85D8F5C4}"/>
              </a:ext>
            </a:extLst>
          </p:cNvPr>
          <p:cNvSpPr/>
          <p:nvPr/>
        </p:nvSpPr>
        <p:spPr>
          <a:xfrm>
            <a:off x="3841403" y="4019592"/>
            <a:ext cx="1134035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AA705C-80AF-4DDD-8214-F036D86DFE77}"/>
              </a:ext>
            </a:extLst>
          </p:cNvPr>
          <p:cNvSpPr/>
          <p:nvPr/>
        </p:nvSpPr>
        <p:spPr>
          <a:xfrm>
            <a:off x="6193493" y="4035008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478A20-DF39-4931-A347-C832F0007320}"/>
              </a:ext>
            </a:extLst>
          </p:cNvPr>
          <p:cNvSpPr/>
          <p:nvPr/>
        </p:nvSpPr>
        <p:spPr>
          <a:xfrm>
            <a:off x="5017994" y="401357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074245-A484-4034-91BF-596F036E243C}"/>
              </a:ext>
            </a:extLst>
          </p:cNvPr>
          <p:cNvSpPr/>
          <p:nvPr/>
        </p:nvSpPr>
        <p:spPr>
          <a:xfrm>
            <a:off x="3841403" y="400525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39" name="Rectangular Callout 44">
            <a:extLst>
              <a:ext uri="{FF2B5EF4-FFF2-40B4-BE49-F238E27FC236}">
                <a16:creationId xmlns:a16="http://schemas.microsoft.com/office/drawing/2014/main" id="{3BF5FB13-2C22-49E0-9A75-6DD42F6FB9E0}"/>
              </a:ext>
            </a:extLst>
          </p:cNvPr>
          <p:cNvSpPr/>
          <p:nvPr/>
        </p:nvSpPr>
        <p:spPr>
          <a:xfrm>
            <a:off x="6502773" y="4359887"/>
            <a:ext cx="2693894" cy="952339"/>
          </a:xfrm>
          <a:prstGeom prst="wedgeRectCallout">
            <a:avLst>
              <a:gd name="adj1" fmla="val -71719"/>
              <a:gd name="adj2" fmla="val -65992"/>
            </a:avLst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Here In Call By Value, It generate copy of that/those variables.</a:t>
            </a:r>
          </a:p>
        </p:txBody>
      </p:sp>
      <p:sp>
        <p:nvSpPr>
          <p:cNvPr id="40" name="Rectangular Callout 45">
            <a:extLst>
              <a:ext uri="{FF2B5EF4-FFF2-40B4-BE49-F238E27FC236}">
                <a16:creationId xmlns:a16="http://schemas.microsoft.com/office/drawing/2014/main" id="{76E888BA-745D-4E05-9551-065DEBDAB4C3}"/>
              </a:ext>
            </a:extLst>
          </p:cNvPr>
          <p:cNvSpPr/>
          <p:nvPr/>
        </p:nvSpPr>
        <p:spPr>
          <a:xfrm>
            <a:off x="6511737" y="4682953"/>
            <a:ext cx="2693894" cy="1119866"/>
          </a:xfrm>
          <a:prstGeom prst="wedgeRectCallout">
            <a:avLst>
              <a:gd name="adj1" fmla="val -80659"/>
              <a:gd name="adj2" fmla="val -72816"/>
            </a:avLst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So What ever you are applying that will effect to that only newly generated variables only. </a:t>
            </a:r>
          </a:p>
        </p:txBody>
      </p:sp>
    </p:spTree>
    <p:extLst>
      <p:ext uri="{BB962C8B-B14F-4D97-AF65-F5344CB8AC3E}">
        <p14:creationId xmlns:p14="http://schemas.microsoft.com/office/powerpoint/2010/main" val="158993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ABDA-975E-46B0-896B-72473C88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261FF-F9F6-4A60-9B51-84EAFE6D791D}"/>
              </a:ext>
            </a:extLst>
          </p:cNvPr>
          <p:cNvSpPr txBox="1"/>
          <p:nvPr/>
        </p:nvSpPr>
        <p:spPr>
          <a:xfrm>
            <a:off x="809767" y="1156647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78605-557B-4AD8-8344-2224DF19CE61}"/>
              </a:ext>
            </a:extLst>
          </p:cNvPr>
          <p:cNvSpPr txBox="1"/>
          <p:nvPr/>
        </p:nvSpPr>
        <p:spPr>
          <a:xfrm>
            <a:off x="809767" y="1506271"/>
            <a:ext cx="263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swap(int *,int *);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E4AC4-C941-4034-A2A1-793B2D29897B}"/>
              </a:ext>
            </a:extLst>
          </p:cNvPr>
          <p:cNvSpPr txBox="1"/>
          <p:nvPr/>
        </p:nvSpPr>
        <p:spPr>
          <a:xfrm>
            <a:off x="809767" y="1885030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785C4-608D-4538-9AE6-D94A1C8AC81B}"/>
              </a:ext>
            </a:extLst>
          </p:cNvPr>
          <p:cNvSpPr txBox="1"/>
          <p:nvPr/>
        </p:nvSpPr>
        <p:spPr>
          <a:xfrm>
            <a:off x="1000266" y="2472719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a=45,b=50;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8CEA5-D707-4169-AC1A-508555B2B0B5}"/>
              </a:ext>
            </a:extLst>
          </p:cNvPr>
          <p:cNvSpPr txBox="1"/>
          <p:nvPr/>
        </p:nvSpPr>
        <p:spPr>
          <a:xfrm>
            <a:off x="809767" y="2215571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3B490-61BF-46E7-806B-B6D23CCF7679}"/>
              </a:ext>
            </a:extLst>
          </p:cNvPr>
          <p:cNvSpPr txBox="1"/>
          <p:nvPr/>
        </p:nvSpPr>
        <p:spPr>
          <a:xfrm>
            <a:off x="973373" y="2770921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nBefore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1FA70-EDBC-4525-B871-D1B690595851}"/>
              </a:ext>
            </a:extLst>
          </p:cNvPr>
          <p:cNvSpPr txBox="1"/>
          <p:nvPr/>
        </p:nvSpPr>
        <p:spPr>
          <a:xfrm>
            <a:off x="973373" y="3082319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swap(&amp;</a:t>
            </a:r>
            <a:r>
              <a:rPr lang="en-US" dirty="0" err="1"/>
              <a:t>a,&amp;b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9392C-CF7B-4068-A875-73982E2554DF}"/>
              </a:ext>
            </a:extLst>
          </p:cNvPr>
          <p:cNvSpPr txBox="1"/>
          <p:nvPr/>
        </p:nvSpPr>
        <p:spPr>
          <a:xfrm>
            <a:off x="973373" y="3366260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nAfter</a:t>
            </a:r>
            <a:r>
              <a:rPr lang="en-US" dirty="0"/>
              <a:t> Swapping Value of a=%d and b=%d",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6FD39-4282-4D06-8BBA-8B3F25826FD3}"/>
              </a:ext>
            </a:extLst>
          </p:cNvPr>
          <p:cNvSpPr txBox="1"/>
          <p:nvPr/>
        </p:nvSpPr>
        <p:spPr>
          <a:xfrm>
            <a:off x="809767" y="3689806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9DC23-B89A-41E2-82E5-364F69FB4EBE}"/>
              </a:ext>
            </a:extLst>
          </p:cNvPr>
          <p:cNvSpPr txBox="1"/>
          <p:nvPr/>
        </p:nvSpPr>
        <p:spPr>
          <a:xfrm>
            <a:off x="809767" y="405913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dirty="0"/>
              <a:t>swap(int *</a:t>
            </a:r>
            <a:r>
              <a:rPr lang="en-US" dirty="0" err="1"/>
              <a:t>a,int</a:t>
            </a:r>
            <a:r>
              <a:rPr lang="en-US" dirty="0"/>
              <a:t> *b)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5CE32-3CD2-430C-A070-9E928A80DF52}"/>
              </a:ext>
            </a:extLst>
          </p:cNvPr>
          <p:cNvSpPr txBox="1"/>
          <p:nvPr/>
        </p:nvSpPr>
        <p:spPr>
          <a:xfrm>
            <a:off x="809767" y="4394352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111EC-8EE7-43F3-8D18-FA4EBE1E8438}"/>
              </a:ext>
            </a:extLst>
          </p:cNvPr>
          <p:cNvSpPr txBox="1"/>
          <p:nvPr/>
        </p:nvSpPr>
        <p:spPr>
          <a:xfrm>
            <a:off x="809767" y="5816522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24138D-A1AA-4E90-AAE1-F7A0D1EA0FF4}"/>
              </a:ext>
            </a:extLst>
          </p:cNvPr>
          <p:cNvSpPr txBox="1"/>
          <p:nvPr/>
        </p:nvSpPr>
        <p:spPr>
          <a:xfrm>
            <a:off x="1000266" y="4636536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temp;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F63F6-B188-4763-BBC3-E735660F4D40}"/>
              </a:ext>
            </a:extLst>
          </p:cNvPr>
          <p:cNvSpPr txBox="1"/>
          <p:nvPr/>
        </p:nvSpPr>
        <p:spPr>
          <a:xfrm>
            <a:off x="1000266" y="4899048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temp=*a;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D9041A-ECA8-4FE9-B576-939C8F0540B4}"/>
              </a:ext>
            </a:extLst>
          </p:cNvPr>
          <p:cNvSpPr txBox="1"/>
          <p:nvPr/>
        </p:nvSpPr>
        <p:spPr>
          <a:xfrm>
            <a:off x="1000266" y="5156986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*a=*b;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7F7D21-A0DC-4B47-B766-417E58739B44}"/>
              </a:ext>
            </a:extLst>
          </p:cNvPr>
          <p:cNvSpPr txBox="1"/>
          <p:nvPr/>
        </p:nvSpPr>
        <p:spPr>
          <a:xfrm>
            <a:off x="1000266" y="5435522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*b=temp;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CDD1D2-BB50-432E-A57B-42E01808561E}"/>
              </a:ext>
            </a:extLst>
          </p:cNvPr>
          <p:cNvSpPr txBox="1"/>
          <p:nvPr/>
        </p:nvSpPr>
        <p:spPr>
          <a:xfrm>
            <a:off x="4924568" y="1122407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Output: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69F4B2-8266-4D4F-A368-8E008D6391BE}"/>
              </a:ext>
            </a:extLst>
          </p:cNvPr>
          <p:cNvSpPr txBox="1"/>
          <p:nvPr/>
        </p:nvSpPr>
        <p:spPr>
          <a:xfrm>
            <a:off x="4924567" y="1443021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Swapping Value of a=45 and b=50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DB793-5CF5-43C5-8E16-95C9ADA23A3A}"/>
              </a:ext>
            </a:extLst>
          </p:cNvPr>
          <p:cNvSpPr txBox="1"/>
          <p:nvPr/>
        </p:nvSpPr>
        <p:spPr>
          <a:xfrm>
            <a:off x="4924568" y="179775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Swapping Value of a=50 and b=45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90C552-E584-461E-88DF-2C0BF8A5F698}"/>
              </a:ext>
            </a:extLst>
          </p:cNvPr>
          <p:cNvSpPr/>
          <p:nvPr/>
        </p:nvSpPr>
        <p:spPr>
          <a:xfrm>
            <a:off x="3522710" y="3691829"/>
            <a:ext cx="1053354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B77C7-AE65-4E4A-AD6C-F39E522DDBBB}"/>
              </a:ext>
            </a:extLst>
          </p:cNvPr>
          <p:cNvSpPr/>
          <p:nvPr/>
        </p:nvSpPr>
        <p:spPr>
          <a:xfrm>
            <a:off x="4894310" y="3706071"/>
            <a:ext cx="1097058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32369C-E3E6-4CB5-B44D-AB74669926DB}"/>
              </a:ext>
            </a:extLst>
          </p:cNvPr>
          <p:cNvSpPr/>
          <p:nvPr/>
        </p:nvSpPr>
        <p:spPr>
          <a:xfrm>
            <a:off x="3737864" y="464065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B64B9B-532D-491B-93FA-F7A2293A0373}"/>
              </a:ext>
            </a:extLst>
          </p:cNvPr>
          <p:cNvSpPr/>
          <p:nvPr/>
        </p:nvSpPr>
        <p:spPr>
          <a:xfrm>
            <a:off x="3721055" y="513603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8DC6AC-E61C-45EE-8836-961886DE4A2E}"/>
              </a:ext>
            </a:extLst>
          </p:cNvPr>
          <p:cNvSpPr/>
          <p:nvPr/>
        </p:nvSpPr>
        <p:spPr>
          <a:xfrm>
            <a:off x="3715449" y="512797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28" name="Rectangular Callout 44">
            <a:extLst>
              <a:ext uri="{FF2B5EF4-FFF2-40B4-BE49-F238E27FC236}">
                <a16:creationId xmlns:a16="http://schemas.microsoft.com/office/drawing/2014/main" id="{4D445C87-EFEE-494B-8C79-1BA990395CB0}"/>
              </a:ext>
            </a:extLst>
          </p:cNvPr>
          <p:cNvSpPr/>
          <p:nvPr/>
        </p:nvSpPr>
        <p:spPr>
          <a:xfrm>
            <a:off x="6782502" y="3431309"/>
            <a:ext cx="2693894" cy="952339"/>
          </a:xfrm>
          <a:prstGeom prst="wedgeRectCallout">
            <a:avLst>
              <a:gd name="adj1" fmla="val -77217"/>
              <a:gd name="adj2" fmla="val -2431"/>
            </a:avLst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Here In Call By Reference, You will send the address of the variables not values.</a:t>
            </a:r>
          </a:p>
        </p:txBody>
      </p:sp>
      <p:sp>
        <p:nvSpPr>
          <p:cNvPr id="29" name="Rectangular Callout 45">
            <a:extLst>
              <a:ext uri="{FF2B5EF4-FFF2-40B4-BE49-F238E27FC236}">
                <a16:creationId xmlns:a16="http://schemas.microsoft.com/office/drawing/2014/main" id="{C8C02598-A835-45F9-B699-9CD9E5DF0833}"/>
              </a:ext>
            </a:extLst>
          </p:cNvPr>
          <p:cNvSpPr/>
          <p:nvPr/>
        </p:nvSpPr>
        <p:spPr>
          <a:xfrm>
            <a:off x="6764573" y="4796094"/>
            <a:ext cx="2693894" cy="1119866"/>
          </a:xfrm>
          <a:prstGeom prst="wedgeRectCallout">
            <a:avLst>
              <a:gd name="adj1" fmla="val -85181"/>
              <a:gd name="adj2" fmla="val -53621"/>
            </a:avLst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So What ever you are applying that will reflect to those variables.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654E67-9ABD-485C-B084-D6A3580CC750}"/>
              </a:ext>
            </a:extLst>
          </p:cNvPr>
          <p:cNvSpPr/>
          <p:nvPr/>
        </p:nvSpPr>
        <p:spPr>
          <a:xfrm>
            <a:off x="3721056" y="4207873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77367E-878B-4702-AD6B-3E37AFE4B006}"/>
              </a:ext>
            </a:extLst>
          </p:cNvPr>
          <p:cNvSpPr/>
          <p:nvPr/>
        </p:nvSpPr>
        <p:spPr>
          <a:xfrm>
            <a:off x="4877502" y="422211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89419C-6FB0-42ED-83D4-E0C0945212CC}"/>
              </a:ext>
            </a:extLst>
          </p:cNvPr>
          <p:cNvSpPr/>
          <p:nvPr/>
        </p:nvSpPr>
        <p:spPr>
          <a:xfrm>
            <a:off x="5735873" y="512797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665271-779F-4D75-B41C-DC6B1A9BFCBC}"/>
              </a:ext>
            </a:extLst>
          </p:cNvPr>
          <p:cNvSpPr/>
          <p:nvPr/>
        </p:nvSpPr>
        <p:spPr>
          <a:xfrm>
            <a:off x="3721055" y="5127974"/>
            <a:ext cx="1051111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5A8B27-4E78-4D44-A153-5364641C0DDC}"/>
              </a:ext>
            </a:extLst>
          </p:cNvPr>
          <p:cNvSpPr/>
          <p:nvPr/>
        </p:nvSpPr>
        <p:spPr>
          <a:xfrm>
            <a:off x="4834919" y="512797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a=45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6D7896-BDCF-48DD-B2F9-80F70EF8545B}"/>
              </a:ext>
            </a:extLst>
          </p:cNvPr>
          <p:cNvSpPr/>
          <p:nvPr/>
        </p:nvSpPr>
        <p:spPr>
          <a:xfrm>
            <a:off x="5517356" y="5127974"/>
            <a:ext cx="1051111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88AA9A-9671-44B5-822D-B50765237B41}"/>
              </a:ext>
            </a:extLst>
          </p:cNvPr>
          <p:cNvSpPr/>
          <p:nvPr/>
        </p:nvSpPr>
        <p:spPr>
          <a:xfrm>
            <a:off x="4600153" y="512797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b=50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921181-F799-4523-8A88-BE14568377F1}"/>
              </a:ext>
            </a:extLst>
          </p:cNvPr>
          <p:cNvSpPr/>
          <p:nvPr/>
        </p:nvSpPr>
        <p:spPr>
          <a:xfrm>
            <a:off x="4622008" y="5136035"/>
            <a:ext cx="1051111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temp=45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881515-A9C8-4A6C-BD0C-ACEA69C14600}"/>
              </a:ext>
            </a:extLst>
          </p:cNvPr>
          <p:cNvSpPr/>
          <p:nvPr/>
        </p:nvSpPr>
        <p:spPr>
          <a:xfrm>
            <a:off x="5730267" y="5136035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ED8AB3-4731-4C89-98C2-D53429FDA240}"/>
              </a:ext>
            </a:extLst>
          </p:cNvPr>
          <p:cNvSpPr/>
          <p:nvPr/>
        </p:nvSpPr>
        <p:spPr>
          <a:xfrm>
            <a:off x="4894310" y="463259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3F4CCF-F51B-425F-B79D-324058F88DBA}"/>
              </a:ext>
            </a:extLst>
          </p:cNvPr>
          <p:cNvSpPr/>
          <p:nvPr/>
        </p:nvSpPr>
        <p:spPr>
          <a:xfrm>
            <a:off x="3737862" y="463259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45BC88-2780-4743-874A-4DCF79745308}"/>
              </a:ext>
            </a:extLst>
          </p:cNvPr>
          <p:cNvSpPr/>
          <p:nvPr/>
        </p:nvSpPr>
        <p:spPr>
          <a:xfrm>
            <a:off x="4894310" y="3711881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04A55A-6A65-4944-ACE5-9D95A88B7180}"/>
              </a:ext>
            </a:extLst>
          </p:cNvPr>
          <p:cNvSpPr/>
          <p:nvPr/>
        </p:nvSpPr>
        <p:spPr>
          <a:xfrm>
            <a:off x="3715453" y="3699494"/>
            <a:ext cx="838200" cy="323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a=50</a:t>
            </a:r>
          </a:p>
        </p:txBody>
      </p:sp>
    </p:spTree>
    <p:extLst>
      <p:ext uri="{BB962C8B-B14F-4D97-AF65-F5344CB8AC3E}">
        <p14:creationId xmlns:p14="http://schemas.microsoft.com/office/powerpoint/2010/main" val="141895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sz="6000" dirty="0"/>
              <a:t>Passing an arrays to function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</a:t>
            </a:r>
          </a:p>
        </p:txBody>
      </p:sp>
    </p:spTree>
    <p:extLst>
      <p:ext uri="{BB962C8B-B14F-4D97-AF65-F5344CB8AC3E}">
        <p14:creationId xmlns:p14="http://schemas.microsoft.com/office/powerpoint/2010/main" val="809655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8765-7C3E-4F42-A06D-C22672F4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Passing an arrays to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F0F0-F8D1-4829-B3DE-6CE551848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you pass an entire array to function is known as </a:t>
            </a:r>
            <a:r>
              <a:rPr lang="en-US" b="1" dirty="0">
                <a:solidFill>
                  <a:srgbClr val="B84742"/>
                </a:solidFill>
              </a:rPr>
              <a:t>Passing an arrays to function.</a:t>
            </a:r>
            <a:endParaRPr lang="gu-IN" sz="2400" b="1" dirty="0">
              <a:solidFill>
                <a:srgbClr val="B847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3D290-BC9D-4E21-976F-9AD1957CBCD9}"/>
              </a:ext>
            </a:extLst>
          </p:cNvPr>
          <p:cNvSpPr txBox="1"/>
          <p:nvPr/>
        </p:nvSpPr>
        <p:spPr>
          <a:xfrm>
            <a:off x="413714" y="130179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A995C-E753-475F-8B4C-CE53BE219FFA}"/>
              </a:ext>
            </a:extLst>
          </p:cNvPr>
          <p:cNvSpPr txBox="1"/>
          <p:nvPr/>
        </p:nvSpPr>
        <p:spPr>
          <a:xfrm>
            <a:off x="413713" y="1682790"/>
            <a:ext cx="256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sumofarray</a:t>
            </a:r>
            <a:r>
              <a:rPr lang="en-US" dirty="0"/>
              <a:t>(int a[ ]);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76C71-D8ED-4287-A075-66700853CBF5}"/>
              </a:ext>
            </a:extLst>
          </p:cNvPr>
          <p:cNvSpPr txBox="1"/>
          <p:nvPr/>
        </p:nvSpPr>
        <p:spPr>
          <a:xfrm>
            <a:off x="413712" y="2070113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CE60B-96D9-4426-81F4-6B89CFAED07B}"/>
              </a:ext>
            </a:extLst>
          </p:cNvPr>
          <p:cNvSpPr txBox="1"/>
          <p:nvPr/>
        </p:nvSpPr>
        <p:spPr>
          <a:xfrm>
            <a:off x="413712" y="2510421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12D35-574D-4132-8456-066AD8B4640E}"/>
              </a:ext>
            </a:extLst>
          </p:cNvPr>
          <p:cNvSpPr txBox="1"/>
          <p:nvPr/>
        </p:nvSpPr>
        <p:spPr>
          <a:xfrm>
            <a:off x="413712" y="6131407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D36C0-89B7-4916-8D3D-613526F59D57}"/>
              </a:ext>
            </a:extLst>
          </p:cNvPr>
          <p:cNvSpPr txBox="1"/>
          <p:nvPr/>
        </p:nvSpPr>
        <p:spPr>
          <a:xfrm>
            <a:off x="843616" y="2988288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a[5],</a:t>
            </a:r>
            <a:r>
              <a:rPr lang="en-US" dirty="0" err="1"/>
              <a:t>i,sum</a:t>
            </a:r>
            <a:r>
              <a:rPr lang="en-US" dirty="0"/>
              <a:t>=0;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05E81A-3A82-403B-A320-DFA52E5D4960}"/>
              </a:ext>
            </a:extLst>
          </p:cNvPr>
          <p:cNvSpPr txBox="1"/>
          <p:nvPr/>
        </p:nvSpPr>
        <p:spPr>
          <a:xfrm>
            <a:off x="815813" y="3382252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5 elements here”);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537F7-22A8-4585-A793-96F18FF7EB0B}"/>
              </a:ext>
            </a:extLst>
          </p:cNvPr>
          <p:cNvSpPr txBox="1"/>
          <p:nvPr/>
        </p:nvSpPr>
        <p:spPr>
          <a:xfrm>
            <a:off x="4251009" y="1301790"/>
            <a:ext cx="25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sumofarray</a:t>
            </a:r>
            <a:r>
              <a:rPr lang="en-US" dirty="0"/>
              <a:t>(int a[ ])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315FE-7736-4415-A2EC-38AFDAC4C2EA}"/>
              </a:ext>
            </a:extLst>
          </p:cNvPr>
          <p:cNvSpPr txBox="1"/>
          <p:nvPr/>
        </p:nvSpPr>
        <p:spPr>
          <a:xfrm>
            <a:off x="4251009" y="1740263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7F781-0827-40ED-A831-B2E4CCCA3138}"/>
              </a:ext>
            </a:extLst>
          </p:cNvPr>
          <p:cNvSpPr txBox="1"/>
          <p:nvPr/>
        </p:nvSpPr>
        <p:spPr>
          <a:xfrm>
            <a:off x="4251009" y="4304889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1E64FF-A6B3-4EAD-863E-B01752B34A83}"/>
              </a:ext>
            </a:extLst>
          </p:cNvPr>
          <p:cNvSpPr txBox="1"/>
          <p:nvPr/>
        </p:nvSpPr>
        <p:spPr>
          <a:xfrm>
            <a:off x="4662715" y="3910727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total;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E4D2F-1809-49E2-9B77-A6F1ACFFCE95}"/>
              </a:ext>
            </a:extLst>
          </p:cNvPr>
          <p:cNvSpPr txBox="1"/>
          <p:nvPr/>
        </p:nvSpPr>
        <p:spPr>
          <a:xfrm>
            <a:off x="4662715" y="206230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i,total</a:t>
            </a:r>
            <a:r>
              <a:rPr lang="en-US" dirty="0"/>
              <a:t>=0;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BB8330-5AE0-4F47-B841-C685C9AB570D}"/>
              </a:ext>
            </a:extLst>
          </p:cNvPr>
          <p:cNvSpPr txBox="1"/>
          <p:nvPr/>
        </p:nvSpPr>
        <p:spPr>
          <a:xfrm>
            <a:off x="8224154" y="2962562"/>
            <a:ext cx="1301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B84742"/>
                </a:solidFill>
              </a:rPr>
              <a:t>OUTPUT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5E94B0-B9A6-42B7-B848-DA9A69C2FD60}"/>
              </a:ext>
            </a:extLst>
          </p:cNvPr>
          <p:cNvSpPr txBox="1"/>
          <p:nvPr/>
        </p:nvSpPr>
        <p:spPr>
          <a:xfrm>
            <a:off x="8224155" y="3473548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Enter 5 elements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A0E349-1963-4F5D-ACFB-02F03340DF79}"/>
              </a:ext>
            </a:extLst>
          </p:cNvPr>
          <p:cNvSpPr txBox="1"/>
          <p:nvPr/>
        </p:nvSpPr>
        <p:spPr>
          <a:xfrm>
            <a:off x="8224155" y="3854957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51A22F-D997-4A1E-8A19-245FF2BDA5EE}"/>
              </a:ext>
            </a:extLst>
          </p:cNvPr>
          <p:cNvSpPr txBox="1"/>
          <p:nvPr/>
        </p:nvSpPr>
        <p:spPr>
          <a:xfrm>
            <a:off x="8224154" y="4263428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883A18-AC2C-42D4-A1A5-3712686DCC98}"/>
              </a:ext>
            </a:extLst>
          </p:cNvPr>
          <p:cNvSpPr txBox="1"/>
          <p:nvPr/>
        </p:nvSpPr>
        <p:spPr>
          <a:xfrm>
            <a:off x="8224154" y="4685889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6F1E53-EE51-B7EA-0F2C-E314DF739D80}"/>
              </a:ext>
            </a:extLst>
          </p:cNvPr>
          <p:cNvSpPr txBox="1"/>
          <p:nvPr/>
        </p:nvSpPr>
        <p:spPr>
          <a:xfrm>
            <a:off x="826049" y="3752310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=0;i&lt;5;i++)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1A3F6E-259F-6BF7-06C9-783354961F40}"/>
              </a:ext>
            </a:extLst>
          </p:cNvPr>
          <p:cNvSpPr txBox="1"/>
          <p:nvPr/>
        </p:nvSpPr>
        <p:spPr>
          <a:xfrm>
            <a:off x="825419" y="4065136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662554-DFE0-348B-A3D3-DE6C98C3D39D}"/>
              </a:ext>
            </a:extLst>
          </p:cNvPr>
          <p:cNvSpPr txBox="1"/>
          <p:nvPr/>
        </p:nvSpPr>
        <p:spPr>
          <a:xfrm>
            <a:off x="825419" y="482539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66BF20-F9FE-B90F-42CE-60AF840F3DCC}"/>
              </a:ext>
            </a:extLst>
          </p:cNvPr>
          <p:cNvSpPr txBox="1"/>
          <p:nvPr/>
        </p:nvSpPr>
        <p:spPr>
          <a:xfrm>
            <a:off x="1036692" y="4446850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scanf(“%</a:t>
            </a:r>
            <a:r>
              <a:rPr lang="en-US" dirty="0" err="1"/>
              <a:t>d”,&amp;a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C59AB2-EFF3-76D7-A42F-32D75F10265D}"/>
              </a:ext>
            </a:extLst>
          </p:cNvPr>
          <p:cNvSpPr txBox="1"/>
          <p:nvPr/>
        </p:nvSpPr>
        <p:spPr>
          <a:xfrm>
            <a:off x="826049" y="5295004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sum=</a:t>
            </a:r>
            <a:r>
              <a:rPr lang="en-US" dirty="0" err="1"/>
              <a:t>sumofarray</a:t>
            </a:r>
            <a:r>
              <a:rPr lang="en-US" dirty="0"/>
              <a:t>(a);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992D66-6958-4483-7366-B95365706CEB}"/>
              </a:ext>
            </a:extLst>
          </p:cNvPr>
          <p:cNvSpPr txBox="1"/>
          <p:nvPr/>
        </p:nvSpPr>
        <p:spPr>
          <a:xfrm>
            <a:off x="825419" y="5694875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printf</a:t>
            </a:r>
            <a:r>
              <a:rPr lang="en-GB" dirty="0"/>
              <a:t>("\</a:t>
            </a:r>
            <a:r>
              <a:rPr lang="en-GB" dirty="0" err="1"/>
              <a:t>nTotal</a:t>
            </a:r>
            <a:r>
              <a:rPr lang="en-GB" dirty="0"/>
              <a:t> is:%</a:t>
            </a:r>
            <a:r>
              <a:rPr lang="en-GB" dirty="0" err="1"/>
              <a:t>d",sum</a:t>
            </a:r>
            <a:r>
              <a:rPr lang="en-GB" dirty="0"/>
              <a:t>);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5E868B-2960-75E2-7B63-DE9E1F492BE1}"/>
              </a:ext>
            </a:extLst>
          </p:cNvPr>
          <p:cNvSpPr txBox="1"/>
          <p:nvPr/>
        </p:nvSpPr>
        <p:spPr>
          <a:xfrm>
            <a:off x="4662715" y="2431406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=0;i&lt;5;i++)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FF17EC-4C0A-5DBE-4C13-7FA161712F38}"/>
              </a:ext>
            </a:extLst>
          </p:cNvPr>
          <p:cNvSpPr txBox="1"/>
          <p:nvPr/>
        </p:nvSpPr>
        <p:spPr>
          <a:xfrm>
            <a:off x="4662085" y="2744232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4662B2-3565-5CD8-E24A-41C467DBBCB2}"/>
              </a:ext>
            </a:extLst>
          </p:cNvPr>
          <p:cNvSpPr txBox="1"/>
          <p:nvPr/>
        </p:nvSpPr>
        <p:spPr>
          <a:xfrm>
            <a:off x="4662085" y="3504486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ADB722-3CD4-3DC3-15EA-0ADEA056BF3B}"/>
              </a:ext>
            </a:extLst>
          </p:cNvPr>
          <p:cNvSpPr txBox="1"/>
          <p:nvPr/>
        </p:nvSpPr>
        <p:spPr>
          <a:xfrm>
            <a:off x="4873358" y="3125946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total=</a:t>
            </a:r>
            <a:r>
              <a:rPr lang="en-US" dirty="0" err="1"/>
              <a:t>total+a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1FCCC8-0A6E-1072-5A63-009115043F8E}"/>
              </a:ext>
            </a:extLst>
          </p:cNvPr>
          <p:cNvSpPr txBox="1"/>
          <p:nvPr/>
        </p:nvSpPr>
        <p:spPr>
          <a:xfrm>
            <a:off x="8224154" y="5063490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2D6D6-8228-71DD-497E-63FD010C1C68}"/>
              </a:ext>
            </a:extLst>
          </p:cNvPr>
          <p:cNvSpPr txBox="1"/>
          <p:nvPr/>
        </p:nvSpPr>
        <p:spPr>
          <a:xfrm>
            <a:off x="8224153" y="5471961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76FF9F-52FE-AFE9-57B9-68B6109F7B39}"/>
              </a:ext>
            </a:extLst>
          </p:cNvPr>
          <p:cNvSpPr txBox="1"/>
          <p:nvPr/>
        </p:nvSpPr>
        <p:spPr>
          <a:xfrm>
            <a:off x="8224153" y="5894422"/>
            <a:ext cx="321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is:150</a:t>
            </a:r>
          </a:p>
        </p:txBody>
      </p:sp>
    </p:spTree>
    <p:extLst>
      <p:ext uri="{BB962C8B-B14F-4D97-AF65-F5344CB8AC3E}">
        <p14:creationId xmlns:p14="http://schemas.microsoft.com/office/powerpoint/2010/main" val="223523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8" grpId="0"/>
      <p:bldP spid="29" grpId="0"/>
      <p:bldP spid="30" grpId="0"/>
      <p:bldP spid="31" grpId="0"/>
      <p:bldP spid="32" grpId="0"/>
      <p:bldP spid="27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 </a:t>
            </a:r>
          </a:p>
        </p:txBody>
      </p:sp>
    </p:spTree>
    <p:extLst>
      <p:ext uri="{BB962C8B-B14F-4D97-AF65-F5344CB8AC3E}">
        <p14:creationId xmlns:p14="http://schemas.microsoft.com/office/powerpoint/2010/main" val="1152934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4700-A74B-4031-BE2F-E23E24DE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9D83-208E-4A8C-947E-375EFAA05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function that calls itself </a:t>
            </a:r>
            <a:r>
              <a:rPr lang="en-US" dirty="0" smtClean="0"/>
              <a:t>is </a:t>
            </a:r>
            <a:r>
              <a:rPr lang="en-US" dirty="0"/>
              <a:t>known as </a:t>
            </a:r>
            <a:r>
              <a:rPr lang="en-US" b="1" dirty="0">
                <a:solidFill>
                  <a:schemeClr val="accent6"/>
                </a:solidFill>
              </a:rPr>
              <a:t>“Recursion”.</a:t>
            </a:r>
          </a:p>
          <a:p>
            <a:r>
              <a:rPr lang="en-US" dirty="0"/>
              <a:t>Suppose if you want to find the factorial of any number then you can use recursion technique.</a:t>
            </a:r>
          </a:p>
          <a:p>
            <a:r>
              <a:rPr lang="en-US" dirty="0"/>
              <a:t>How it works 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59641-DED9-4CFE-89CB-E7F048458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075" y="2374245"/>
            <a:ext cx="3544898" cy="357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0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A1C8-3363-4BA0-A06B-AC74085E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 </a:t>
            </a:r>
            <a:r>
              <a:rPr lang="en-US" dirty="0">
                <a:latin typeface="+mn-lt"/>
                <a:cs typeface="Lohit Gujarati" panose="020B0600000000000000" pitchFamily="34" charset="0"/>
              </a:rPr>
              <a:t>(Conti…)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523A1-161B-466D-B291-88F3F6262094}"/>
              </a:ext>
            </a:extLst>
          </p:cNvPr>
          <p:cNvSpPr txBox="1"/>
          <p:nvPr/>
        </p:nvSpPr>
        <p:spPr>
          <a:xfrm>
            <a:off x="8154529" y="794622"/>
            <a:ext cx="3831219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accent6"/>
                </a:solidFill>
              </a:rPr>
              <a:t>Factorial</a:t>
            </a:r>
            <a:r>
              <a:rPr lang="en-US" b="1" dirty="0"/>
              <a:t> means multiplication of numbers from n up to 1</a:t>
            </a:r>
            <a:endParaRPr lang="gu-IN" b="1" dirty="0"/>
          </a:p>
          <a:p>
            <a:pPr marL="285750" indent="-285750" algn="just">
              <a:lnSpc>
                <a:spcPct val="150000"/>
              </a:lnSpc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b="1" dirty="0"/>
              <a:t>If (number&lt;=1) then it returns 1 </a:t>
            </a:r>
          </a:p>
          <a:p>
            <a:pPr marL="285750" indent="-285750" algn="just">
              <a:lnSpc>
                <a:spcPct val="150000"/>
              </a:lnSpc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b="1" dirty="0"/>
              <a:t>If (number&gt;1) then suppose then ??</a:t>
            </a:r>
            <a:endParaRPr lang="gu-IN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75E157-3C7A-4A11-8EA1-B4D98D35B9E0}"/>
              </a:ext>
            </a:extLst>
          </p:cNvPr>
          <p:cNvSpPr/>
          <p:nvPr/>
        </p:nvSpPr>
        <p:spPr>
          <a:xfrm>
            <a:off x="696686" y="995220"/>
            <a:ext cx="1190170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n !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77E117-0424-4130-88D4-4B474A75CF09}"/>
              </a:ext>
            </a:extLst>
          </p:cNvPr>
          <p:cNvSpPr/>
          <p:nvPr/>
        </p:nvSpPr>
        <p:spPr>
          <a:xfrm>
            <a:off x="965201" y="1912422"/>
            <a:ext cx="1190170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n * (n-1) !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0216B3-B6A6-4260-8163-D789CF106D6B}"/>
              </a:ext>
            </a:extLst>
          </p:cNvPr>
          <p:cNvSpPr/>
          <p:nvPr/>
        </p:nvSpPr>
        <p:spPr>
          <a:xfrm>
            <a:off x="1560286" y="2870568"/>
            <a:ext cx="1669144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(n-1) * (n-2) !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B64A6C5-9FAE-4F58-A593-FEBC4EFD29E6}"/>
              </a:ext>
            </a:extLst>
          </p:cNvPr>
          <p:cNvSpPr/>
          <p:nvPr/>
        </p:nvSpPr>
        <p:spPr>
          <a:xfrm>
            <a:off x="2394858" y="3828714"/>
            <a:ext cx="1669144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(n-2) * (n-3) !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BEECABE-13A3-4390-999A-A599B58A4B34}"/>
              </a:ext>
            </a:extLst>
          </p:cNvPr>
          <p:cNvSpPr/>
          <p:nvPr/>
        </p:nvSpPr>
        <p:spPr>
          <a:xfrm>
            <a:off x="2873830" y="4803119"/>
            <a:ext cx="2285997" cy="10287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Process continues up to …. 1  and </a:t>
            </a:r>
          </a:p>
          <a:p>
            <a:pPr algn="ctr"/>
            <a:r>
              <a:rPr lang="en-US" b="1" dirty="0">
                <a:solidFill>
                  <a:schemeClr val="accent6"/>
                </a:solidFill>
              </a:rPr>
              <a:t>it returns 1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998766-402C-48D1-BBC4-A96F06B9CC1A}"/>
              </a:ext>
            </a:extLst>
          </p:cNvPr>
          <p:cNvCxnSpPr>
            <a:cxnSpLocks/>
          </p:cNvCxnSpPr>
          <p:nvPr/>
        </p:nvCxnSpPr>
        <p:spPr>
          <a:xfrm>
            <a:off x="1335310" y="1407886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9515EA-8280-4C69-B0B9-573FD22CF149}"/>
              </a:ext>
            </a:extLst>
          </p:cNvPr>
          <p:cNvCxnSpPr>
            <a:cxnSpLocks/>
          </p:cNvCxnSpPr>
          <p:nvPr/>
        </p:nvCxnSpPr>
        <p:spPr>
          <a:xfrm>
            <a:off x="1734457" y="2366032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45D399-9A64-45BE-AEF2-EA8035A2D38C}"/>
              </a:ext>
            </a:extLst>
          </p:cNvPr>
          <p:cNvCxnSpPr>
            <a:cxnSpLocks/>
          </p:cNvCxnSpPr>
          <p:nvPr/>
        </p:nvCxnSpPr>
        <p:spPr>
          <a:xfrm>
            <a:off x="2627084" y="3329648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32F0C8-CEE1-4466-8F86-9EDF0840A721}"/>
              </a:ext>
            </a:extLst>
          </p:cNvPr>
          <p:cNvCxnSpPr>
            <a:cxnSpLocks/>
          </p:cNvCxnSpPr>
          <p:nvPr/>
        </p:nvCxnSpPr>
        <p:spPr>
          <a:xfrm>
            <a:off x="3040743" y="4282324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2A57E1-4162-43B6-B01D-7F380C51EAF3}"/>
              </a:ext>
            </a:extLst>
          </p:cNvPr>
          <p:cNvCxnSpPr>
            <a:cxnSpLocks/>
          </p:cNvCxnSpPr>
          <p:nvPr/>
        </p:nvCxnSpPr>
        <p:spPr>
          <a:xfrm flipV="1">
            <a:off x="3309261" y="4282325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9E46E08-DFA5-4102-8143-C16B4B90F58F}"/>
              </a:ext>
            </a:extLst>
          </p:cNvPr>
          <p:cNvCxnSpPr>
            <a:cxnSpLocks/>
          </p:cNvCxnSpPr>
          <p:nvPr/>
        </p:nvCxnSpPr>
        <p:spPr>
          <a:xfrm flipV="1">
            <a:off x="2873830" y="3324178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70D6C98-20D4-4EA8-B81C-99C585749832}"/>
              </a:ext>
            </a:extLst>
          </p:cNvPr>
          <p:cNvCxnSpPr>
            <a:cxnSpLocks/>
          </p:cNvCxnSpPr>
          <p:nvPr/>
        </p:nvCxnSpPr>
        <p:spPr>
          <a:xfrm flipV="1">
            <a:off x="2010228" y="2366032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6F4ACE-ED38-4AC2-BF5B-73FC96E34F03}"/>
              </a:ext>
            </a:extLst>
          </p:cNvPr>
          <p:cNvCxnSpPr>
            <a:cxnSpLocks/>
          </p:cNvCxnSpPr>
          <p:nvPr/>
        </p:nvCxnSpPr>
        <p:spPr>
          <a:xfrm flipV="1">
            <a:off x="1589314" y="1414948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E689764-ACE9-4165-8EC1-B31556D0B100}"/>
              </a:ext>
            </a:extLst>
          </p:cNvPr>
          <p:cNvSpPr/>
          <p:nvPr/>
        </p:nvSpPr>
        <p:spPr>
          <a:xfrm>
            <a:off x="3552098" y="954276"/>
            <a:ext cx="1190170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5 !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B56EAAF-0D30-445B-960C-D89C26858047}"/>
              </a:ext>
            </a:extLst>
          </p:cNvPr>
          <p:cNvSpPr/>
          <p:nvPr/>
        </p:nvSpPr>
        <p:spPr>
          <a:xfrm>
            <a:off x="3820613" y="1912422"/>
            <a:ext cx="1190170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5 * 4 !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26BFB81-9A1D-421E-869C-0E3FA27BCAF8}"/>
              </a:ext>
            </a:extLst>
          </p:cNvPr>
          <p:cNvSpPr/>
          <p:nvPr/>
        </p:nvSpPr>
        <p:spPr>
          <a:xfrm>
            <a:off x="4415698" y="2870568"/>
            <a:ext cx="1669144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4 * 3 !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386E379-DFCB-4684-9357-30036BFCD980}"/>
              </a:ext>
            </a:extLst>
          </p:cNvPr>
          <p:cNvSpPr/>
          <p:nvPr/>
        </p:nvSpPr>
        <p:spPr>
          <a:xfrm>
            <a:off x="5250270" y="3828714"/>
            <a:ext cx="1669144" cy="4536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3 * 2  !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ED023E-EE40-4A9F-B936-88B4CA92973F}"/>
              </a:ext>
            </a:extLst>
          </p:cNvPr>
          <p:cNvSpPr/>
          <p:nvPr/>
        </p:nvSpPr>
        <p:spPr>
          <a:xfrm>
            <a:off x="5616481" y="4803119"/>
            <a:ext cx="1302934" cy="4974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2 * 1 !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22C53CD-FA9D-44CE-B894-C386F30944EB}"/>
              </a:ext>
            </a:extLst>
          </p:cNvPr>
          <p:cNvCxnSpPr>
            <a:cxnSpLocks/>
          </p:cNvCxnSpPr>
          <p:nvPr/>
        </p:nvCxnSpPr>
        <p:spPr>
          <a:xfrm>
            <a:off x="4190722" y="1407886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D9505DD-DA64-4A83-B687-C099995EA19A}"/>
              </a:ext>
            </a:extLst>
          </p:cNvPr>
          <p:cNvCxnSpPr>
            <a:cxnSpLocks/>
          </p:cNvCxnSpPr>
          <p:nvPr/>
        </p:nvCxnSpPr>
        <p:spPr>
          <a:xfrm>
            <a:off x="4589869" y="2366032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EC783BF-E839-4A18-B433-085C8119722F}"/>
              </a:ext>
            </a:extLst>
          </p:cNvPr>
          <p:cNvCxnSpPr>
            <a:cxnSpLocks/>
          </p:cNvCxnSpPr>
          <p:nvPr/>
        </p:nvCxnSpPr>
        <p:spPr>
          <a:xfrm>
            <a:off x="5482496" y="3329648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9C422D-C43D-48D0-BA42-6FFAEBBDBD97}"/>
              </a:ext>
            </a:extLst>
          </p:cNvPr>
          <p:cNvCxnSpPr>
            <a:cxnSpLocks/>
          </p:cNvCxnSpPr>
          <p:nvPr/>
        </p:nvCxnSpPr>
        <p:spPr>
          <a:xfrm>
            <a:off x="5896155" y="4282324"/>
            <a:ext cx="0" cy="50453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8321F6B-F762-414A-AC74-AC85A69E14AD}"/>
              </a:ext>
            </a:extLst>
          </p:cNvPr>
          <p:cNvCxnSpPr>
            <a:cxnSpLocks/>
          </p:cNvCxnSpPr>
          <p:nvPr/>
        </p:nvCxnSpPr>
        <p:spPr>
          <a:xfrm flipV="1">
            <a:off x="6164673" y="4282325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C134F06-7102-4818-89BE-99E626E3D2E2}"/>
              </a:ext>
            </a:extLst>
          </p:cNvPr>
          <p:cNvCxnSpPr>
            <a:cxnSpLocks/>
          </p:cNvCxnSpPr>
          <p:nvPr/>
        </p:nvCxnSpPr>
        <p:spPr>
          <a:xfrm flipV="1">
            <a:off x="5729242" y="3324178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D0CE998-5DD3-4DE2-B0C4-89E2E35782F2}"/>
              </a:ext>
            </a:extLst>
          </p:cNvPr>
          <p:cNvCxnSpPr>
            <a:cxnSpLocks/>
          </p:cNvCxnSpPr>
          <p:nvPr/>
        </p:nvCxnSpPr>
        <p:spPr>
          <a:xfrm flipV="1">
            <a:off x="4865640" y="2366032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1E8CB8-7971-469F-8E8E-DC8B196F795F}"/>
              </a:ext>
            </a:extLst>
          </p:cNvPr>
          <p:cNvCxnSpPr>
            <a:cxnSpLocks/>
          </p:cNvCxnSpPr>
          <p:nvPr/>
        </p:nvCxnSpPr>
        <p:spPr>
          <a:xfrm flipV="1">
            <a:off x="4444726" y="1414948"/>
            <a:ext cx="0" cy="49747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22FF073-2E7C-4970-8B05-AED3CB72B4EB}"/>
              </a:ext>
            </a:extLst>
          </p:cNvPr>
          <p:cNvSpPr/>
          <p:nvPr/>
        </p:nvSpPr>
        <p:spPr>
          <a:xfrm>
            <a:off x="6164673" y="5657143"/>
            <a:ext cx="1302934" cy="4974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8BBB30-E997-4D81-AFC7-8CA4EA325BA6}"/>
              </a:ext>
            </a:extLst>
          </p:cNvPr>
          <p:cNvCxnSpPr>
            <a:cxnSpLocks/>
          </p:cNvCxnSpPr>
          <p:nvPr/>
        </p:nvCxnSpPr>
        <p:spPr>
          <a:xfrm>
            <a:off x="6367870" y="5300592"/>
            <a:ext cx="0" cy="35655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FAF60D-E298-40EC-98A8-704319B5C733}"/>
              </a:ext>
            </a:extLst>
          </p:cNvPr>
          <p:cNvCxnSpPr>
            <a:cxnSpLocks/>
          </p:cNvCxnSpPr>
          <p:nvPr/>
        </p:nvCxnSpPr>
        <p:spPr>
          <a:xfrm flipV="1">
            <a:off x="6636388" y="5300593"/>
            <a:ext cx="0" cy="35655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469701D-0E0F-4B7D-A86D-75C2B2348FB5}"/>
              </a:ext>
            </a:extLst>
          </p:cNvPr>
          <p:cNvSpPr txBox="1"/>
          <p:nvPr/>
        </p:nvSpPr>
        <p:spPr>
          <a:xfrm>
            <a:off x="6784979" y="5300592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Here it returns 1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8B9FC6-0B5F-4457-A0C0-3081246D9B19}"/>
              </a:ext>
            </a:extLst>
          </p:cNvPr>
          <p:cNvSpPr txBox="1"/>
          <p:nvPr/>
        </p:nvSpPr>
        <p:spPr>
          <a:xfrm>
            <a:off x="6295846" y="4392875"/>
            <a:ext cx="2765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Here it returns 2! = 2 *1= 2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FAE339-B66E-4C74-BA55-92B2D85CC7E0}"/>
              </a:ext>
            </a:extLst>
          </p:cNvPr>
          <p:cNvSpPr txBox="1"/>
          <p:nvPr/>
        </p:nvSpPr>
        <p:spPr>
          <a:xfrm>
            <a:off x="5912346" y="3269013"/>
            <a:ext cx="158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Here it returns 3! = 3 *2 = 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1D92AD-4575-4D6F-AEF5-541061DAAA28}"/>
              </a:ext>
            </a:extLst>
          </p:cNvPr>
          <p:cNvSpPr txBox="1"/>
          <p:nvPr/>
        </p:nvSpPr>
        <p:spPr>
          <a:xfrm>
            <a:off x="5028106" y="2434760"/>
            <a:ext cx="3040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Here it returns 4! = 4  *  6= 24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5A1DFF-F5E5-4701-A9D1-E216D532D9B0}"/>
              </a:ext>
            </a:extLst>
          </p:cNvPr>
          <p:cNvSpPr txBox="1"/>
          <p:nvPr/>
        </p:nvSpPr>
        <p:spPr>
          <a:xfrm>
            <a:off x="4640734" y="1489866"/>
            <a:ext cx="325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Here it returns 5! = 5 * 24 = 120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72FE20-5680-4ECA-BE3A-976A32CC1E87}"/>
              </a:ext>
            </a:extLst>
          </p:cNvPr>
          <p:cNvSpPr txBox="1"/>
          <p:nvPr/>
        </p:nvSpPr>
        <p:spPr>
          <a:xfrm>
            <a:off x="4742268" y="101619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Final Value 5 ! = 120 </a:t>
            </a:r>
          </a:p>
        </p:txBody>
      </p:sp>
    </p:spTree>
    <p:extLst>
      <p:ext uri="{BB962C8B-B14F-4D97-AF65-F5344CB8AC3E}">
        <p14:creationId xmlns:p14="http://schemas.microsoft.com/office/powerpoint/2010/main" val="380645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3" grpId="0" animBg="1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D7DE-DAEC-4019-BE6F-56B7ADC3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 </a:t>
            </a:r>
            <a:r>
              <a:rPr lang="en-US" dirty="0">
                <a:latin typeface="+mn-lt"/>
                <a:cs typeface="Lohit Gujarati" panose="020B0600000000000000" pitchFamily="34" charset="0"/>
              </a:rPr>
              <a:t>(Conti…)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29AE6-1E66-4595-A69F-E8632D73BD84}"/>
              </a:ext>
            </a:extLst>
          </p:cNvPr>
          <p:cNvSpPr txBox="1"/>
          <p:nvPr/>
        </p:nvSpPr>
        <p:spPr>
          <a:xfrm>
            <a:off x="932329" y="1288142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86DF8-9A2A-4017-B685-BCC973A5D472}"/>
              </a:ext>
            </a:extLst>
          </p:cNvPr>
          <p:cNvSpPr txBox="1"/>
          <p:nvPr/>
        </p:nvSpPr>
        <p:spPr>
          <a:xfrm>
            <a:off x="932329" y="1669142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int fact(int);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04222-6A25-48C2-A555-EC1426091859}"/>
              </a:ext>
            </a:extLst>
          </p:cNvPr>
          <p:cNvSpPr txBox="1"/>
          <p:nvPr/>
        </p:nvSpPr>
        <p:spPr>
          <a:xfrm>
            <a:off x="932329" y="207255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B81C1-565B-4D5D-A683-AF02D3458A9F}"/>
              </a:ext>
            </a:extLst>
          </p:cNvPr>
          <p:cNvSpPr txBox="1"/>
          <p:nvPr/>
        </p:nvSpPr>
        <p:spPr>
          <a:xfrm>
            <a:off x="941294" y="2475966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030FF-DB3B-49DC-AA9B-732E33A4F1A9}"/>
              </a:ext>
            </a:extLst>
          </p:cNvPr>
          <p:cNvSpPr txBox="1"/>
          <p:nvPr/>
        </p:nvSpPr>
        <p:spPr>
          <a:xfrm>
            <a:off x="932329" y="488971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B4394-3259-42DC-BCB6-51DE8ED4AFBD}"/>
              </a:ext>
            </a:extLst>
          </p:cNvPr>
          <p:cNvSpPr txBox="1"/>
          <p:nvPr/>
        </p:nvSpPr>
        <p:spPr>
          <a:xfrm>
            <a:off x="1237129" y="2879378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int </a:t>
            </a:r>
            <a:r>
              <a:rPr lang="en-US" dirty="0" err="1"/>
              <a:t>n,ans</a:t>
            </a:r>
            <a:r>
              <a:rPr lang="en-US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BEE81-ED93-4DC8-8072-D82EB3948D38}"/>
              </a:ext>
            </a:extLst>
          </p:cNvPr>
          <p:cNvSpPr txBox="1"/>
          <p:nvPr/>
        </p:nvSpPr>
        <p:spPr>
          <a:xfrm>
            <a:off x="1237129" y="329847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No. Here:");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C50EC7-BAB2-45AF-A41D-7EAE753F8BEB}"/>
              </a:ext>
            </a:extLst>
          </p:cNvPr>
          <p:cNvSpPr txBox="1"/>
          <p:nvPr/>
        </p:nvSpPr>
        <p:spPr>
          <a:xfrm>
            <a:off x="1237129" y="3679016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ld</a:t>
            </a:r>
            <a:r>
              <a:rPr lang="en-US" dirty="0"/>
              <a:t>",&amp;n);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78472-FDF0-4F66-BE9A-FA09B6EB3109}"/>
              </a:ext>
            </a:extLst>
          </p:cNvPr>
          <p:cNvSpPr txBox="1"/>
          <p:nvPr/>
        </p:nvSpPr>
        <p:spPr>
          <a:xfrm>
            <a:off x="1237129" y="4088724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ans</a:t>
            </a:r>
            <a:r>
              <a:rPr lang="en-US" dirty="0"/>
              <a:t> = fact(n);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0F47D-B18B-4C21-A16E-42C52E3AE8AF}"/>
              </a:ext>
            </a:extLst>
          </p:cNvPr>
          <p:cNvSpPr txBox="1"/>
          <p:nvPr/>
        </p:nvSpPr>
        <p:spPr>
          <a:xfrm>
            <a:off x="1237129" y="448566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("Factorial is: %</a:t>
            </a:r>
            <a:r>
              <a:rPr lang="en-US" dirty="0" err="1"/>
              <a:t>ld</a:t>
            </a:r>
            <a:r>
              <a:rPr lang="en-US" dirty="0"/>
              <a:t>",</a:t>
            </a:r>
            <a:r>
              <a:rPr lang="en-US" dirty="0" err="1"/>
              <a:t>ans</a:t>
            </a:r>
            <a:r>
              <a:rPr lang="en-US" dirty="0"/>
              <a:t>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4371C-F763-4F02-8ED6-69949C30E536}"/>
              </a:ext>
            </a:extLst>
          </p:cNvPr>
          <p:cNvSpPr txBox="1"/>
          <p:nvPr/>
        </p:nvSpPr>
        <p:spPr>
          <a:xfrm>
            <a:off x="6096000" y="1549471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int fact(int 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648F-39B1-44A9-9DDE-C0ACB8123436}"/>
              </a:ext>
            </a:extLst>
          </p:cNvPr>
          <p:cNvSpPr txBox="1"/>
          <p:nvPr/>
        </p:nvSpPr>
        <p:spPr>
          <a:xfrm>
            <a:off x="6104965" y="191702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61DAA8-B959-4C07-9B48-CE84D9B03666}"/>
              </a:ext>
            </a:extLst>
          </p:cNvPr>
          <p:cNvSpPr txBox="1"/>
          <p:nvPr/>
        </p:nvSpPr>
        <p:spPr>
          <a:xfrm>
            <a:off x="6087036" y="5741869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C020B-ADA7-4A26-B8DA-32FD91D53BD7}"/>
              </a:ext>
            </a:extLst>
          </p:cNvPr>
          <p:cNvSpPr txBox="1"/>
          <p:nvPr/>
        </p:nvSpPr>
        <p:spPr>
          <a:xfrm>
            <a:off x="6400800" y="224199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f;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42BA1C-DE86-425C-A6EA-8F51EBDFF587}"/>
              </a:ext>
            </a:extLst>
          </p:cNvPr>
          <p:cNvSpPr txBox="1"/>
          <p:nvPr/>
        </p:nvSpPr>
        <p:spPr>
          <a:xfrm>
            <a:off x="6400800" y="2628597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(n==1)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B2C26B-1556-43AE-A33C-8C12315A7173}"/>
              </a:ext>
            </a:extLst>
          </p:cNvPr>
          <p:cNvSpPr txBox="1"/>
          <p:nvPr/>
        </p:nvSpPr>
        <p:spPr>
          <a:xfrm>
            <a:off x="6400800" y="2952446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3C7BA2-0707-4DE7-B14A-ABD42B4170BB}"/>
              </a:ext>
            </a:extLst>
          </p:cNvPr>
          <p:cNvSpPr txBox="1"/>
          <p:nvPr/>
        </p:nvSpPr>
        <p:spPr>
          <a:xfrm>
            <a:off x="6418729" y="370772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715CF8-3511-4E80-A52C-E91219838A27}"/>
              </a:ext>
            </a:extLst>
          </p:cNvPr>
          <p:cNvSpPr txBox="1"/>
          <p:nvPr/>
        </p:nvSpPr>
        <p:spPr>
          <a:xfrm>
            <a:off x="6772835" y="331824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1;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60CDBF-69B1-4EEB-925E-7062E5815FF6}"/>
              </a:ext>
            </a:extLst>
          </p:cNvPr>
          <p:cNvSpPr txBox="1"/>
          <p:nvPr/>
        </p:nvSpPr>
        <p:spPr>
          <a:xfrm>
            <a:off x="6400800" y="4138104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BE089B-4300-4FFF-9A7A-D74A5C809547}"/>
              </a:ext>
            </a:extLst>
          </p:cNvPr>
          <p:cNvSpPr txBox="1"/>
          <p:nvPr/>
        </p:nvSpPr>
        <p:spPr>
          <a:xfrm>
            <a:off x="6418729" y="440921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A96CA3-F312-4584-A0F2-38D3C578DED2}"/>
              </a:ext>
            </a:extLst>
          </p:cNvPr>
          <p:cNvSpPr txBox="1"/>
          <p:nvPr/>
        </p:nvSpPr>
        <p:spPr>
          <a:xfrm>
            <a:off x="6418729" y="5365278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1D2FA1-4C30-40D3-A5AB-694DF4383D33}"/>
              </a:ext>
            </a:extLst>
          </p:cNvPr>
          <p:cNvSpPr txBox="1"/>
          <p:nvPr/>
        </p:nvSpPr>
        <p:spPr>
          <a:xfrm>
            <a:off x="6772835" y="4772280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n*fact(n-1);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C18DE-A1A9-42DC-A616-F8F0C0D7307D}"/>
              </a:ext>
            </a:extLst>
          </p:cNvPr>
          <p:cNvSpPr txBox="1"/>
          <p:nvPr/>
        </p:nvSpPr>
        <p:spPr>
          <a:xfrm>
            <a:off x="6772835" y="5127022"/>
            <a:ext cx="213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f;</a:t>
            </a:r>
          </a:p>
        </p:txBody>
      </p:sp>
    </p:spTree>
    <p:extLst>
      <p:ext uri="{BB962C8B-B14F-4D97-AF65-F5344CB8AC3E}">
        <p14:creationId xmlns:p14="http://schemas.microsoft.com/office/powerpoint/2010/main" val="272931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40B9-E2AF-44BC-9BED-5937902B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Recursion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6E14-3563-4AD1-BFA6-2CE39EED9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Easy Solution for recursive defined solution</a:t>
            </a:r>
          </a:p>
          <a:p>
            <a:pPr algn="just"/>
            <a:r>
              <a:rPr lang="en-US" sz="2400" dirty="0"/>
              <a:t>Complex program can be easily written with less code</a:t>
            </a:r>
          </a:p>
        </p:txBody>
      </p:sp>
    </p:spTree>
    <p:extLst>
      <p:ext uri="{BB962C8B-B14F-4D97-AF65-F5344CB8AC3E}">
        <p14:creationId xmlns:p14="http://schemas.microsoft.com/office/powerpoint/2010/main" val="182027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8765-7C3E-4F42-A06D-C22672F4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Limitations </a:t>
            </a:r>
            <a:r>
              <a:rPr lang="en-IN" dirty="0"/>
              <a:t>of Recursion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F0F0-F8D1-4829-B3DE-6CE551848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It is difficult to understand and debug</a:t>
            </a:r>
          </a:p>
          <a:p>
            <a:pPr algn="just"/>
            <a:r>
              <a:rPr lang="en-US" sz="2400" dirty="0"/>
              <a:t>Termination condition is must otherwise it will go in an infinite loop</a:t>
            </a:r>
            <a:endParaRPr lang="en-US" sz="24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algn="just"/>
            <a:r>
              <a:rPr lang="en-US" sz="2400" dirty="0"/>
              <a:t>Execution speed decrease because of function call and return activity many times</a:t>
            </a:r>
            <a:endParaRPr lang="gu-IN" sz="2400" dirty="0"/>
          </a:p>
        </p:txBody>
      </p:sp>
    </p:spTree>
    <p:extLst>
      <p:ext uri="{BB962C8B-B14F-4D97-AF65-F5344CB8AC3E}">
        <p14:creationId xmlns:p14="http://schemas.microsoft.com/office/powerpoint/2010/main" val="62363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Storage Class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 </a:t>
            </a:r>
          </a:p>
        </p:txBody>
      </p:sp>
    </p:spTree>
    <p:extLst>
      <p:ext uri="{BB962C8B-B14F-4D97-AF65-F5344CB8AC3E}">
        <p14:creationId xmlns:p14="http://schemas.microsoft.com/office/powerpoint/2010/main" val="1124229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E62F-C3E4-467E-9B6C-70F6F302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0D7E5-F70F-403D-94D7-E0111C91C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Scope means accessible of a variable in program</a:t>
            </a:r>
          </a:p>
          <a:p>
            <a:r>
              <a:rPr lang="en-US" sz="2400" dirty="0"/>
              <a:t>A variable is only accessible within the function area (local) or it may be available to the entire c program (global).</a:t>
            </a:r>
          </a:p>
          <a:p>
            <a:r>
              <a:rPr lang="en-US" b="1" dirty="0">
                <a:solidFill>
                  <a:srgbClr val="B84742"/>
                </a:solidFill>
              </a:rPr>
              <a:t>Example;</a:t>
            </a:r>
            <a:endParaRPr lang="en-US" sz="2400" b="1" dirty="0">
              <a:solidFill>
                <a:srgbClr val="B84742"/>
              </a:solidFill>
            </a:endParaRP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C0AD1-D2C1-4266-A616-E89B96DC5251}"/>
              </a:ext>
            </a:extLst>
          </p:cNvPr>
          <p:cNvSpPr txBox="1"/>
          <p:nvPr/>
        </p:nvSpPr>
        <p:spPr>
          <a:xfrm>
            <a:off x="460829" y="2665295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F8217-704A-402F-9259-76E598B64276}"/>
              </a:ext>
            </a:extLst>
          </p:cNvPr>
          <p:cNvSpPr txBox="1"/>
          <p:nvPr/>
        </p:nvSpPr>
        <p:spPr>
          <a:xfrm>
            <a:off x="484361" y="2974578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a=42;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DAE78-B7C0-44D3-9296-B2F49385AB5C}"/>
              </a:ext>
            </a:extLst>
          </p:cNvPr>
          <p:cNvSpPr txBox="1"/>
          <p:nvPr/>
        </p:nvSpPr>
        <p:spPr>
          <a:xfrm>
            <a:off x="460829" y="3623159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A5830-CD3C-4DB9-81C0-D5B5A7BF173B}"/>
              </a:ext>
            </a:extLst>
          </p:cNvPr>
          <p:cNvSpPr txBox="1"/>
          <p:nvPr/>
        </p:nvSpPr>
        <p:spPr>
          <a:xfrm>
            <a:off x="805800" y="5651547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436D0-4767-4B0A-AFF1-1ADDABBA6D0C}"/>
              </a:ext>
            </a:extLst>
          </p:cNvPr>
          <p:cNvSpPr txBox="1"/>
          <p:nvPr/>
        </p:nvSpPr>
        <p:spPr>
          <a:xfrm>
            <a:off x="484361" y="3327917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0D176-4197-43B4-A35A-D7577DAB6723}"/>
              </a:ext>
            </a:extLst>
          </p:cNvPr>
          <p:cNvSpPr txBox="1"/>
          <p:nvPr/>
        </p:nvSpPr>
        <p:spPr>
          <a:xfrm>
            <a:off x="799246" y="3918993"/>
            <a:ext cx="512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("\n value of a outside function is:%</a:t>
            </a:r>
            <a:r>
              <a:rPr lang="en-US" dirty="0" err="1"/>
              <a:t>d",a</a:t>
            </a:r>
            <a:r>
              <a:rPr lang="en-US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08E61-6E51-46CC-943A-A1E217937441}"/>
              </a:ext>
            </a:extLst>
          </p:cNvPr>
          <p:cNvSpPr txBox="1"/>
          <p:nvPr/>
        </p:nvSpPr>
        <p:spPr>
          <a:xfrm>
            <a:off x="805800" y="4299403"/>
            <a:ext cx="37203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3BBDE-E983-42E0-938F-3FD1E3F3EA5C}"/>
              </a:ext>
            </a:extLst>
          </p:cNvPr>
          <p:cNvSpPr txBox="1"/>
          <p:nvPr/>
        </p:nvSpPr>
        <p:spPr>
          <a:xfrm>
            <a:off x="460829" y="6213313"/>
            <a:ext cx="37203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DEDC9-88DC-4BF7-8C78-97C567766A94}"/>
              </a:ext>
            </a:extLst>
          </p:cNvPr>
          <p:cNvSpPr txBox="1"/>
          <p:nvPr/>
        </p:nvSpPr>
        <p:spPr>
          <a:xfrm>
            <a:off x="1032159" y="4680403"/>
            <a:ext cx="512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b=90;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2BA5A-2EC0-4EF6-9901-DC9BE799C16D}"/>
              </a:ext>
            </a:extLst>
          </p:cNvPr>
          <p:cNvSpPr txBox="1"/>
          <p:nvPr/>
        </p:nvSpPr>
        <p:spPr>
          <a:xfrm>
            <a:off x="1032159" y="5004483"/>
            <a:ext cx="361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("\n value of b is:%</a:t>
            </a:r>
            <a:r>
              <a:rPr lang="en-US" dirty="0" err="1"/>
              <a:t>d",b</a:t>
            </a:r>
            <a:r>
              <a:rPr lang="en-US" dirty="0"/>
              <a:t>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F9A30A-DD77-4BA3-99A0-D5BA33A4AA8E}"/>
              </a:ext>
            </a:extLst>
          </p:cNvPr>
          <p:cNvSpPr txBox="1"/>
          <p:nvPr/>
        </p:nvSpPr>
        <p:spPr>
          <a:xfrm>
            <a:off x="1032159" y="5314885"/>
            <a:ext cx="435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("\n value of a inside function is:%</a:t>
            </a:r>
            <a:r>
              <a:rPr lang="en-US" dirty="0" err="1"/>
              <a:t>d",a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A7556-FAC5-4F4B-AE09-215BE52731C1}"/>
              </a:ext>
            </a:extLst>
          </p:cNvPr>
          <p:cNvSpPr txBox="1"/>
          <p:nvPr/>
        </p:nvSpPr>
        <p:spPr>
          <a:xfrm>
            <a:off x="799246" y="5966158"/>
            <a:ext cx="512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("\n value of b outside function is:%</a:t>
            </a:r>
            <a:r>
              <a:rPr lang="en-US" dirty="0" err="1"/>
              <a:t>d",b</a:t>
            </a:r>
            <a:r>
              <a:rPr lang="en-US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19815-86CA-4C97-A7CA-13B42D173672}"/>
              </a:ext>
            </a:extLst>
          </p:cNvPr>
          <p:cNvSpPr txBox="1"/>
          <p:nvPr/>
        </p:nvSpPr>
        <p:spPr>
          <a:xfrm>
            <a:off x="5609386" y="3842049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33A85C-EB99-4BBA-A5EE-4E5A63E74B7F}"/>
              </a:ext>
            </a:extLst>
          </p:cNvPr>
          <p:cNvSpPr txBox="1"/>
          <p:nvPr/>
        </p:nvSpPr>
        <p:spPr>
          <a:xfrm>
            <a:off x="5535082" y="5945379"/>
            <a:ext cx="440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×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E200EA-ADE5-4BA2-BF61-0DCEF90CE412}"/>
              </a:ext>
            </a:extLst>
          </p:cNvPr>
          <p:cNvSpPr txBox="1"/>
          <p:nvPr/>
        </p:nvSpPr>
        <p:spPr>
          <a:xfrm>
            <a:off x="5507786" y="5236256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72323F-FE56-4558-80C1-0061F61FC64C}"/>
              </a:ext>
            </a:extLst>
          </p:cNvPr>
          <p:cNvSpPr txBox="1"/>
          <p:nvPr/>
        </p:nvSpPr>
        <p:spPr>
          <a:xfrm>
            <a:off x="5507786" y="4975631"/>
            <a:ext cx="52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10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2C4D-C88A-4A5B-905A-5789F584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Lifetime &amp; Visibility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1C56C-F0EA-4611-B5D5-AAF8BF16B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Lifetime</a:t>
            </a:r>
          </a:p>
          <a:p>
            <a:pPr lvl="1"/>
            <a:r>
              <a:rPr lang="en-US" dirty="0"/>
              <a:t>It is a time limit till how much time variable is accessible </a:t>
            </a:r>
          </a:p>
          <a:p>
            <a:r>
              <a:rPr lang="en-US" dirty="0"/>
              <a:t>Visibility</a:t>
            </a:r>
          </a:p>
          <a:p>
            <a:pPr lvl="1"/>
            <a:r>
              <a:rPr lang="en-US" dirty="0"/>
              <a:t>It is ability of the program to access a variable from the memory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56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04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2464</Words>
  <Application>Microsoft Office PowerPoint</Application>
  <PresentationFormat>Widescreen</PresentationFormat>
  <Paragraphs>496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Lohit Gujarati</vt:lpstr>
      <vt:lpstr>Open Sans</vt:lpstr>
      <vt:lpstr>Roboto Condensed</vt:lpstr>
      <vt:lpstr>Roboto Condensed Light</vt:lpstr>
      <vt:lpstr>Segoe UI Black</vt:lpstr>
      <vt:lpstr>Wingdings</vt:lpstr>
      <vt:lpstr>Wingdings 2</vt:lpstr>
      <vt:lpstr>Wingdings 3</vt:lpstr>
      <vt:lpstr>Office Theme</vt:lpstr>
      <vt:lpstr>Unit-1  Functions</vt:lpstr>
      <vt:lpstr>PowerPoint Presentation</vt:lpstr>
      <vt:lpstr>Introduction of UDF</vt:lpstr>
      <vt:lpstr>Introduction of UDF</vt:lpstr>
      <vt:lpstr> Need of UDF</vt:lpstr>
      <vt:lpstr>Elements of UDF</vt:lpstr>
      <vt:lpstr>Elements UDF (User Defined Function)</vt:lpstr>
      <vt:lpstr>1. Function Declaration</vt:lpstr>
      <vt:lpstr>1. Function Declaration (Conti…)</vt:lpstr>
      <vt:lpstr>1. Function Declaration (Conti…)</vt:lpstr>
      <vt:lpstr>1. Function Declaration (Conti…)</vt:lpstr>
      <vt:lpstr>2. Function Definition</vt:lpstr>
      <vt:lpstr>3. Function Call</vt:lpstr>
      <vt:lpstr>Function’s Example</vt:lpstr>
      <vt:lpstr>Category of Function</vt:lpstr>
      <vt:lpstr>Categories of Function</vt:lpstr>
      <vt:lpstr>1. No Argument , No Return Type</vt:lpstr>
      <vt:lpstr>2. With Argument, No Return Type</vt:lpstr>
      <vt:lpstr>3. No Argument, With Return Type</vt:lpstr>
      <vt:lpstr>4. With Argument, With Return Type</vt:lpstr>
      <vt:lpstr>Call By Value &amp; Call By Reference</vt:lpstr>
      <vt:lpstr>Parameter Pass Technique</vt:lpstr>
      <vt:lpstr>Concept of Call By Value and Call By Reference </vt:lpstr>
      <vt:lpstr>Call By Value</vt:lpstr>
      <vt:lpstr>Call By Reference</vt:lpstr>
      <vt:lpstr>Passing an arrays to function</vt:lpstr>
      <vt:lpstr>Passing an arrays to function</vt:lpstr>
      <vt:lpstr>Recursion</vt:lpstr>
      <vt:lpstr>Recursion</vt:lpstr>
      <vt:lpstr>Recursion (Conti…)</vt:lpstr>
      <vt:lpstr>Recursion (Conti…)</vt:lpstr>
      <vt:lpstr>Advantages of Recursion</vt:lpstr>
      <vt:lpstr>Limitations of Recursion</vt:lpstr>
      <vt:lpstr>Storage Class</vt:lpstr>
      <vt:lpstr>Scope</vt:lpstr>
      <vt:lpstr>Lifetime &amp; Visibility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398</cp:revision>
  <dcterms:created xsi:type="dcterms:W3CDTF">2020-05-01T05:09:15Z</dcterms:created>
  <dcterms:modified xsi:type="dcterms:W3CDTF">2025-12-20T08:12:33Z</dcterms:modified>
</cp:coreProperties>
</file>